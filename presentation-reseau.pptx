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63" r:id="rId10"/>
    <p:sldId id="267" r:id="rId11"/>
    <p:sldId id="268" r:id="rId12"/>
    <p:sldId id="264" r:id="rId13"/>
    <p:sldId id="265" r:id="rId14"/>
    <p:sldId id="266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14A7B9-6480-4A54-A6BC-5DD9C0249428}" v="2" dt="2026-06-17T10:03:46.6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5" d="100"/>
          <a:sy n="145" d="100"/>
        </p:scale>
        <p:origin x="114" y="10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is Lucas" userId="92b8c442-4053-4ae3-b30b-3932a7aba9ed" providerId="ADAL" clId="{A6EFCFE4-1D1D-4F90-8686-82165B2C362A}"/>
    <pc:docChg chg="undo custSel addSld delSld modSld">
      <pc:chgData name="Monis Lucas" userId="92b8c442-4053-4ae3-b30b-3932a7aba9ed" providerId="ADAL" clId="{A6EFCFE4-1D1D-4F90-8686-82165B2C362A}" dt="2026-06-17T10:19:21.653" v="271" actId="1076"/>
      <pc:docMkLst>
        <pc:docMk/>
      </pc:docMkLst>
      <pc:sldChg chg="modSp mod">
        <pc:chgData name="Monis Lucas" userId="92b8c442-4053-4ae3-b30b-3932a7aba9ed" providerId="ADAL" clId="{A6EFCFE4-1D1D-4F90-8686-82165B2C362A}" dt="2026-06-17T09:11:31.947" v="1" actId="108"/>
        <pc:sldMkLst>
          <pc:docMk/>
          <pc:sldMk cId="0" sldId="257"/>
        </pc:sldMkLst>
        <pc:spChg chg="mod">
          <ac:chgData name="Monis Lucas" userId="92b8c442-4053-4ae3-b30b-3932a7aba9ed" providerId="ADAL" clId="{A6EFCFE4-1D1D-4F90-8686-82165B2C362A}" dt="2026-06-17T09:11:28.352" v="0" actId="108"/>
          <ac:spMkLst>
            <pc:docMk/>
            <pc:sldMk cId="0" sldId="257"/>
            <ac:spMk id="10" creationId="{00000000-0000-0000-0000-000000000000}"/>
          </ac:spMkLst>
        </pc:spChg>
        <pc:spChg chg="mod">
          <ac:chgData name="Monis Lucas" userId="92b8c442-4053-4ae3-b30b-3932a7aba9ed" providerId="ADAL" clId="{A6EFCFE4-1D1D-4F90-8686-82165B2C362A}" dt="2026-06-17T09:11:31.947" v="1" actId="108"/>
          <ac:spMkLst>
            <pc:docMk/>
            <pc:sldMk cId="0" sldId="257"/>
            <ac:spMk id="14" creationId="{00000000-0000-0000-0000-000000000000}"/>
          </ac:spMkLst>
        </pc:spChg>
      </pc:sldChg>
      <pc:sldChg chg="modSp mod">
        <pc:chgData name="Monis Lucas" userId="92b8c442-4053-4ae3-b30b-3932a7aba9ed" providerId="ADAL" clId="{A6EFCFE4-1D1D-4F90-8686-82165B2C362A}" dt="2026-06-17T09:11:57.096" v="6" actId="20577"/>
        <pc:sldMkLst>
          <pc:docMk/>
          <pc:sldMk cId="0" sldId="259"/>
        </pc:sldMkLst>
        <pc:spChg chg="mod">
          <ac:chgData name="Monis Lucas" userId="92b8c442-4053-4ae3-b30b-3932a7aba9ed" providerId="ADAL" clId="{A6EFCFE4-1D1D-4F90-8686-82165B2C362A}" dt="2026-06-17T09:11:57.096" v="6" actId="20577"/>
          <ac:spMkLst>
            <pc:docMk/>
            <pc:sldMk cId="0" sldId="259"/>
            <ac:spMk id="5" creationId="{00000000-0000-0000-0000-000000000000}"/>
          </ac:spMkLst>
        </pc:spChg>
      </pc:sldChg>
      <pc:sldChg chg="modSp mod">
        <pc:chgData name="Monis Lucas" userId="92b8c442-4053-4ae3-b30b-3932a7aba9ed" providerId="ADAL" clId="{A6EFCFE4-1D1D-4F90-8686-82165B2C362A}" dt="2026-06-17T10:04:08.135" v="259" actId="20577"/>
        <pc:sldMkLst>
          <pc:docMk/>
          <pc:sldMk cId="0" sldId="263"/>
        </pc:sldMkLst>
        <pc:spChg chg="mod">
          <ac:chgData name="Monis Lucas" userId="92b8c442-4053-4ae3-b30b-3932a7aba9ed" providerId="ADAL" clId="{A6EFCFE4-1D1D-4F90-8686-82165B2C362A}" dt="2026-06-17T10:04:08.135" v="259" actId="20577"/>
          <ac:spMkLst>
            <pc:docMk/>
            <pc:sldMk cId="0" sldId="263"/>
            <ac:spMk id="7" creationId="{00000000-0000-0000-0000-000000000000}"/>
          </ac:spMkLst>
        </pc:spChg>
      </pc:sldChg>
      <pc:sldChg chg="modSp mod">
        <pc:chgData name="Monis Lucas" userId="92b8c442-4053-4ae3-b30b-3932a7aba9ed" providerId="ADAL" clId="{A6EFCFE4-1D1D-4F90-8686-82165B2C362A}" dt="2026-06-17T09:16:58.580" v="40" actId="404"/>
        <pc:sldMkLst>
          <pc:docMk/>
          <pc:sldMk cId="0" sldId="265"/>
        </pc:sldMkLst>
        <pc:spChg chg="mod">
          <ac:chgData name="Monis Lucas" userId="92b8c442-4053-4ae3-b30b-3932a7aba9ed" providerId="ADAL" clId="{A6EFCFE4-1D1D-4F90-8686-82165B2C362A}" dt="2026-06-17T09:16:29.261" v="17" actId="1076"/>
          <ac:spMkLst>
            <pc:docMk/>
            <pc:sldMk cId="0" sldId="265"/>
            <ac:spMk id="5" creationId="{00000000-0000-0000-0000-000000000000}"/>
          </ac:spMkLst>
        </pc:spChg>
        <pc:spChg chg="mod">
          <ac:chgData name="Monis Lucas" userId="92b8c442-4053-4ae3-b30b-3932a7aba9ed" providerId="ADAL" clId="{A6EFCFE4-1D1D-4F90-8686-82165B2C362A}" dt="2026-06-17T09:16:51.212" v="35" actId="403"/>
          <ac:spMkLst>
            <pc:docMk/>
            <pc:sldMk cId="0" sldId="265"/>
            <ac:spMk id="7" creationId="{00000000-0000-0000-0000-000000000000}"/>
          </ac:spMkLst>
        </pc:spChg>
        <pc:spChg chg="mod">
          <ac:chgData name="Monis Lucas" userId="92b8c442-4053-4ae3-b30b-3932a7aba9ed" providerId="ADAL" clId="{A6EFCFE4-1D1D-4F90-8686-82165B2C362A}" dt="2026-06-17T09:16:58.580" v="40" actId="404"/>
          <ac:spMkLst>
            <pc:docMk/>
            <pc:sldMk cId="0" sldId="265"/>
            <ac:spMk id="10" creationId="{00000000-0000-0000-0000-000000000000}"/>
          </ac:spMkLst>
        </pc:spChg>
      </pc:sldChg>
      <pc:sldChg chg="addSp delSp modSp mod">
        <pc:chgData name="Monis Lucas" userId="92b8c442-4053-4ae3-b30b-3932a7aba9ed" providerId="ADAL" clId="{A6EFCFE4-1D1D-4F90-8686-82165B2C362A}" dt="2026-06-17T10:15:33.841" v="264" actId="1076"/>
        <pc:sldMkLst>
          <pc:docMk/>
          <pc:sldMk cId="2567104587" sldId="268"/>
        </pc:sldMkLst>
        <pc:picChg chg="del">
          <ac:chgData name="Monis Lucas" userId="92b8c442-4053-4ae3-b30b-3932a7aba9ed" providerId="ADAL" clId="{A6EFCFE4-1D1D-4F90-8686-82165B2C362A}" dt="2026-06-17T10:15:17.492" v="260" actId="478"/>
          <ac:picMkLst>
            <pc:docMk/>
            <pc:sldMk cId="2567104587" sldId="268"/>
            <ac:picMk id="6" creationId="{29218B1C-EFB4-7A1C-85F0-A179917BCA16}"/>
          </ac:picMkLst>
        </pc:picChg>
        <pc:picChg chg="add mod">
          <ac:chgData name="Monis Lucas" userId="92b8c442-4053-4ae3-b30b-3932a7aba9ed" providerId="ADAL" clId="{A6EFCFE4-1D1D-4F90-8686-82165B2C362A}" dt="2026-06-17T10:15:33.841" v="264" actId="1076"/>
          <ac:picMkLst>
            <pc:docMk/>
            <pc:sldMk cId="2567104587" sldId="268"/>
            <ac:picMk id="7" creationId="{76C43EB6-658D-30F7-448E-D34E85CD63ED}"/>
          </ac:picMkLst>
        </pc:picChg>
      </pc:sldChg>
      <pc:sldChg chg="addSp delSp modSp add del mod">
        <pc:chgData name="Monis Lucas" userId="92b8c442-4053-4ae3-b30b-3932a7aba9ed" providerId="ADAL" clId="{A6EFCFE4-1D1D-4F90-8686-82165B2C362A}" dt="2026-06-17T10:19:21.653" v="271" actId="1076"/>
        <pc:sldMkLst>
          <pc:docMk/>
          <pc:sldMk cId="3988208265" sldId="269"/>
        </pc:sldMkLst>
        <pc:picChg chg="add mod">
          <ac:chgData name="Monis Lucas" userId="92b8c442-4053-4ae3-b30b-3932a7aba9ed" providerId="ADAL" clId="{A6EFCFE4-1D1D-4F90-8686-82165B2C362A}" dt="2026-06-17T10:19:21.653" v="271" actId="1076"/>
          <ac:picMkLst>
            <pc:docMk/>
            <pc:sldMk cId="3988208265" sldId="269"/>
            <ac:picMk id="6" creationId="{C560B0A0-E411-F4E3-F25E-5A214C9EFF1A}"/>
          </ac:picMkLst>
        </pc:picChg>
        <pc:picChg chg="del">
          <ac:chgData name="Monis Lucas" userId="92b8c442-4053-4ae3-b30b-3932a7aba9ed" providerId="ADAL" clId="{A6EFCFE4-1D1D-4F90-8686-82165B2C362A}" dt="2026-06-17T10:19:09.001" v="267" actId="478"/>
          <ac:picMkLst>
            <pc:docMk/>
            <pc:sldMk cId="3988208265" sldId="269"/>
            <ac:picMk id="26" creationId="{001FB3F9-D869-7746-5FEA-CAEF81C9BA5A}"/>
          </ac:picMkLst>
        </pc:picChg>
      </pc:sldChg>
      <pc:sldChg chg="mod modShow">
        <pc:chgData name="Monis Lucas" userId="92b8c442-4053-4ae3-b30b-3932a7aba9ed" providerId="ADAL" clId="{A6EFCFE4-1D1D-4F90-8686-82165B2C362A}" dt="2026-06-17T09:16:19.279" v="15" actId="729"/>
        <pc:sldMkLst>
          <pc:docMk/>
          <pc:sldMk cId="2832142109" sldId="270"/>
        </pc:sldMkLst>
      </pc:sldChg>
      <pc:sldChg chg="mod modShow">
        <pc:chgData name="Monis Lucas" userId="92b8c442-4053-4ae3-b30b-3932a7aba9ed" providerId="ADAL" clId="{A6EFCFE4-1D1D-4F90-8686-82165B2C362A}" dt="2026-06-17T09:16:19.279" v="15" actId="729"/>
        <pc:sldMkLst>
          <pc:docMk/>
          <pc:sldMk cId="309851603" sldId="271"/>
        </pc:sldMkLst>
      </pc:sldChg>
      <pc:sldChg chg="mod modShow">
        <pc:chgData name="Monis Lucas" userId="92b8c442-4053-4ae3-b30b-3932a7aba9ed" providerId="ADAL" clId="{A6EFCFE4-1D1D-4F90-8686-82165B2C362A}" dt="2026-06-17T09:16:19.279" v="15" actId="729"/>
        <pc:sldMkLst>
          <pc:docMk/>
          <pc:sldMk cId="3980251180" sldId="27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eOrange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BadgeFond"/>
          <p:cNvSpPr/>
          <p:nvPr/>
        </p:nvSpPr>
        <p:spPr>
          <a:xfrm>
            <a:off x="3331639" y="9144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D4880A"/>
          </a:solidFill>
          <a:ln w="12700">
            <a:solidFill>
              <a:srgbClr val="D48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BadgeTexte"/>
          <p:cNvSpPr/>
          <p:nvPr/>
        </p:nvSpPr>
        <p:spPr>
          <a:xfrm>
            <a:off x="3291840" y="1097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dirty="0"/>
              <a:t>RÉSEAUX  |  2025-2026</a:t>
            </a:r>
          </a:p>
        </p:txBody>
      </p:sp>
      <p:sp>
        <p:nvSpPr>
          <p:cNvPr id="7" name="SousTitre"/>
          <p:cNvSpPr/>
          <p:nvPr/>
        </p:nvSpPr>
        <p:spPr>
          <a:xfrm>
            <a:off x="109728" y="1968657"/>
            <a:ext cx="9034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BE" sz="2800" dirty="0"/>
              <a:t>Serait-il pertinent, pour une Haute-Ecole telle que l’Hénallux, d’implémenter un serveur Mastodon pour son service de tutorat en ligne ?</a:t>
            </a:r>
            <a:endParaRPr sz="2800" dirty="0"/>
          </a:p>
        </p:txBody>
      </p:sp>
      <p:sp>
        <p:nvSpPr>
          <p:cNvPr id="10" name="Auteurs"/>
          <p:cNvSpPr/>
          <p:nvPr/>
        </p:nvSpPr>
        <p:spPr>
          <a:xfrm>
            <a:off x="118872" y="4767379"/>
            <a:ext cx="9025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400" dirty="0" err="1"/>
              <a:t>Peteurson</a:t>
            </a:r>
            <a:r>
              <a:rPr sz="1400" dirty="0"/>
              <a:t> Théophile  ·  Dujardin Xavier  ·  Monis Lucas</a:t>
            </a:r>
          </a:p>
        </p:txBody>
      </p:sp>
      <p:sp>
        <p:nvSpPr>
          <p:cNvPr id="13" name="InfoBas"/>
          <p:cNvSpPr/>
          <p:nvPr/>
        </p:nvSpPr>
        <p:spPr>
          <a:xfrm>
            <a:off x="173780" y="2995538"/>
            <a:ext cx="89153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400" dirty="0"/>
              <a:t>Prof. Van </a:t>
            </a:r>
            <a:r>
              <a:rPr sz="1400" dirty="0" err="1"/>
              <a:t>Goethem</a:t>
            </a:r>
            <a:r>
              <a:rPr sz="1400" dirty="0"/>
              <a:t> Philippe  |  Réseaux  |  Juin 2026</a:t>
            </a:r>
          </a:p>
        </p:txBody>
      </p:sp>
      <p:sp>
        <p:nvSpPr>
          <p:cNvPr id="11" name="BadgeNum"/>
          <p:cNvSpPr/>
          <p:nvPr/>
        </p:nvSpPr>
        <p:spPr>
          <a:xfrm>
            <a:off x="8413796" y="4736592"/>
            <a:ext cx="611332" cy="292608"/>
          </a:xfrm>
          <a:prstGeom prst="roundRect">
            <a:avLst>
              <a:gd name="adj" fmla="val 15625"/>
            </a:avLst>
          </a:prstGeom>
          <a:solidFill>
            <a:srgbClr val="D4880A"/>
          </a:solidFill>
          <a:ln w="12700">
            <a:solidFill>
              <a:srgbClr val="D48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NumSlide"/>
          <p:cNvSpPr/>
          <p:nvPr/>
        </p:nvSpPr>
        <p:spPr>
          <a:xfrm>
            <a:off x="8413796" y="4736592"/>
            <a:ext cx="6113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dirty="0"/>
              <a:t>1 / 10</a:t>
            </a:r>
          </a:p>
        </p:txBody>
      </p:sp>
      <p:pic>
        <p:nvPicPr>
          <p:cNvPr id="1026" name="Picture 2" descr="HENALLUX - Symbioz">
            <a:extLst>
              <a:ext uri="{FF2B5EF4-FFF2-40B4-BE49-F238E27FC236}">
                <a16:creationId xmlns:a16="http://schemas.microsoft.com/office/drawing/2014/main" id="{69A187E6-9A8E-4F7A-4FDB-E5BAD7A87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80" y="28314"/>
            <a:ext cx="984021" cy="1144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gos et illustrations — Printemps des Sciences en Province de Namur">
            <a:extLst>
              <a:ext uri="{FF2B5EF4-FFF2-40B4-BE49-F238E27FC236}">
                <a16:creationId xmlns:a16="http://schemas.microsoft.com/office/drawing/2014/main" id="{1B3F14BA-5A8F-A88A-3C02-EF630D99C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636" y="0"/>
            <a:ext cx="1187364" cy="1315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eBleu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BarreOrange"/>
          <p:cNvSpPr/>
          <p:nvPr/>
        </p:nvSpPr>
        <p:spPr>
          <a:xfrm>
            <a:off x="0" y="73152"/>
            <a:ext cx="3840480" cy="4572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" name="Titre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t>Sommaire</a:t>
            </a:r>
          </a:p>
        </p:txBody>
      </p:sp>
      <p:sp>
        <p:nvSpPr>
          <p:cNvPr id="5" name="LigneTimeline"/>
          <p:cNvSpPr/>
          <p:nvPr/>
        </p:nvSpPr>
        <p:spPr>
          <a:xfrm>
            <a:off x="1211580" y="2286000"/>
            <a:ext cx="7172186" cy="45719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6" name="E1Cercle"/>
          <p:cNvSpPr/>
          <p:nvPr/>
        </p:nvSpPr>
        <p:spPr>
          <a:xfrm>
            <a:off x="1211580" y="2103120"/>
            <a:ext cx="411480" cy="4114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7" name="E1Num"/>
          <p:cNvSpPr/>
          <p:nvPr/>
        </p:nvSpPr>
        <p:spPr>
          <a:xfrm>
            <a:off x="1211580" y="2105751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E1Titre"/>
          <p:cNvSpPr/>
          <p:nvPr/>
        </p:nvSpPr>
        <p:spPr>
          <a:xfrm>
            <a:off x="457200" y="960120"/>
            <a:ext cx="1920240" cy="1006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t>Pourquoi
ce sujet ?</a:t>
            </a:r>
          </a:p>
        </p:txBody>
      </p:sp>
      <p:sp>
        <p:nvSpPr>
          <p:cNvPr id="9" name="E1Desc"/>
          <p:cNvSpPr/>
          <p:nvPr/>
        </p:nvSpPr>
        <p:spPr>
          <a:xfrm>
            <a:off x="457200" y="256032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dirty="0"/>
          </a:p>
        </p:txBody>
      </p:sp>
      <p:sp>
        <p:nvSpPr>
          <p:cNvPr id="10" name="E2Cercle"/>
          <p:cNvSpPr/>
          <p:nvPr/>
        </p:nvSpPr>
        <p:spPr>
          <a:xfrm>
            <a:off x="3275133" y="2125979"/>
            <a:ext cx="411480" cy="411480"/>
          </a:xfrm>
          <a:prstGeom prst="ellipse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1" name="E2Num"/>
          <p:cNvSpPr/>
          <p:nvPr/>
        </p:nvSpPr>
        <p:spPr>
          <a:xfrm>
            <a:off x="3275133" y="2125979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E2Titre"/>
          <p:cNvSpPr/>
          <p:nvPr/>
        </p:nvSpPr>
        <p:spPr>
          <a:xfrm>
            <a:off x="2508960" y="960120"/>
            <a:ext cx="1920240" cy="1006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t>Architecture
technique</a:t>
            </a:r>
          </a:p>
        </p:txBody>
      </p:sp>
      <p:sp>
        <p:nvSpPr>
          <p:cNvPr id="14" name="E3Cercle"/>
          <p:cNvSpPr/>
          <p:nvPr/>
        </p:nvSpPr>
        <p:spPr>
          <a:xfrm>
            <a:off x="5520840" y="2080260"/>
            <a:ext cx="411480" cy="4114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5" name="E3Num"/>
          <p:cNvSpPr/>
          <p:nvPr/>
        </p:nvSpPr>
        <p:spPr>
          <a:xfrm>
            <a:off x="5520840" y="20802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E3Titre"/>
          <p:cNvSpPr/>
          <p:nvPr/>
        </p:nvSpPr>
        <p:spPr>
          <a:xfrm>
            <a:off x="4714802" y="970470"/>
            <a:ext cx="1920240" cy="1006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dirty="0" err="1"/>
              <a:t>Mesures</a:t>
            </a:r>
            <a:r>
              <a:rPr dirty="0"/>
              <a:t> de
sécurité</a:t>
            </a:r>
          </a:p>
        </p:txBody>
      </p:sp>
      <p:sp>
        <p:nvSpPr>
          <p:cNvPr id="18" name="E4Cercle"/>
          <p:cNvSpPr/>
          <p:nvPr/>
        </p:nvSpPr>
        <p:spPr>
          <a:xfrm>
            <a:off x="7972287" y="2103120"/>
            <a:ext cx="411480" cy="411480"/>
          </a:xfrm>
          <a:prstGeom prst="ellipse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9" name="E4Num"/>
          <p:cNvSpPr/>
          <p:nvPr/>
        </p:nvSpPr>
        <p:spPr>
          <a:xfrm>
            <a:off x="7972287" y="210114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E4Titre"/>
          <p:cNvSpPr/>
          <p:nvPr/>
        </p:nvSpPr>
        <p:spPr>
          <a:xfrm>
            <a:off x="7104888" y="982981"/>
            <a:ext cx="1920240" cy="1006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dirty="0" err="1"/>
              <a:t>Démo</a:t>
            </a:r>
            <a:r>
              <a:rPr dirty="0"/>
              <a:t> &amp;
Conclusion</a:t>
            </a:r>
          </a:p>
        </p:txBody>
      </p:sp>
      <p:sp>
        <p:nvSpPr>
          <p:cNvPr id="22" name="BadgeNum"/>
          <p:cNvSpPr/>
          <p:nvPr/>
        </p:nvSpPr>
        <p:spPr>
          <a:xfrm>
            <a:off x="8549640" y="4736592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23" name="NumSlide"/>
          <p:cNvSpPr/>
          <p:nvPr/>
        </p:nvSpPr>
        <p:spPr>
          <a:xfrm>
            <a:off x="8549640" y="473659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dirty="0"/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rreOrange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5" name="NumSection"/>
          <p:cNvSpPr/>
          <p:nvPr/>
        </p:nvSpPr>
        <p:spPr>
          <a:xfrm>
            <a:off x="457200" y="1280000"/>
            <a:ext cx="82296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t>Partie 1</a:t>
            </a:r>
          </a:p>
        </p:txBody>
      </p:sp>
      <p:sp>
        <p:nvSpPr>
          <p:cNvPr id="6" name="TitreSection"/>
          <p:cNvSpPr/>
          <p:nvPr/>
        </p:nvSpPr>
        <p:spPr>
          <a:xfrm>
            <a:off x="457200" y="1780000"/>
            <a:ext cx="822960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t>Pourquoi avoir choisi ce sujet ?</a:t>
            </a:r>
          </a:p>
        </p:txBody>
      </p:sp>
      <p:sp>
        <p:nvSpPr>
          <p:cNvPr id="7" name="SousTitreSection"/>
          <p:cNvSpPr/>
          <p:nvPr/>
        </p:nvSpPr>
        <p:spPr>
          <a:xfrm>
            <a:off x="457200" y="2750000"/>
            <a:ext cx="82296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t>Contexte, besoins et motivations</a:t>
            </a:r>
          </a:p>
        </p:txBody>
      </p:sp>
      <p:sp>
        <p:nvSpPr>
          <p:cNvPr id="8" name="BadgeNum"/>
          <p:cNvSpPr/>
          <p:nvPr/>
        </p:nvSpPr>
        <p:spPr>
          <a:xfrm>
            <a:off x="8549640" y="4736592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9" name="NumSlide"/>
          <p:cNvSpPr/>
          <p:nvPr/>
        </p:nvSpPr>
        <p:spPr>
          <a:xfrm>
            <a:off x="8549640" y="473659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dirty="0"/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eBleuHaut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BarreOrangeAccent"/>
          <p:cNvSpPr/>
          <p:nvPr/>
        </p:nvSpPr>
        <p:spPr>
          <a:xfrm>
            <a:off x="0" y="73152"/>
            <a:ext cx="3840480" cy="4572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itreSlide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t>Pourquoi ce sujet ?  |  Contexte Henallux</a:t>
            </a:r>
          </a:p>
        </p:txBody>
      </p:sp>
      <p:sp>
        <p:nvSpPr>
          <p:cNvPr id="5" name="ListeGauche"/>
          <p:cNvSpPr/>
          <p:nvPr/>
        </p:nvSpPr>
        <p:spPr>
          <a:xfrm>
            <a:off x="457200" y="96012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1" dirty="0" err="1"/>
              <a:t>Contexte</a:t>
            </a:r>
            <a:endParaRPr sz="1300" b="1" dirty="0"/>
          </a:p>
          <a:p>
            <a:endParaRPr sz="1300" b="1" dirty="0"/>
          </a:p>
          <a:p>
            <a:r>
              <a:rPr sz="1600" b="0" dirty="0"/>
              <a:t>1. Le </a:t>
            </a:r>
            <a:r>
              <a:rPr sz="1600" b="0" dirty="0" err="1"/>
              <a:t>tutorat</a:t>
            </a:r>
            <a:r>
              <a:rPr sz="1600" b="0" dirty="0"/>
              <a:t> se </a:t>
            </a:r>
            <a:r>
              <a:rPr sz="1600" b="0" dirty="0" err="1"/>
              <a:t>déroule</a:t>
            </a:r>
            <a:r>
              <a:rPr sz="1600" b="0" dirty="0"/>
              <a:t> </a:t>
            </a:r>
            <a:r>
              <a:rPr sz="1600" b="0" dirty="0" err="1"/>
              <a:t>en</a:t>
            </a:r>
            <a:r>
              <a:rPr sz="1600" b="0" dirty="0"/>
              <a:t> </a:t>
            </a:r>
            <a:r>
              <a:rPr sz="1600" b="0" dirty="0" err="1"/>
              <a:t>présentiel</a:t>
            </a:r>
            <a:r>
              <a:rPr sz="1600" b="0" dirty="0"/>
              <a:t>, avec </a:t>
            </a:r>
            <a:r>
              <a:rPr sz="1600" b="0" dirty="0" err="1"/>
              <a:t>suivi</a:t>
            </a:r>
            <a:endParaRPr sz="1600" b="0" dirty="0"/>
          </a:p>
          <a:p>
            <a:endParaRPr sz="1600" b="0" dirty="0"/>
          </a:p>
          <a:p>
            <a:r>
              <a:rPr sz="1600" b="0" dirty="0"/>
              <a:t>2. </a:t>
            </a:r>
            <a:r>
              <a:rPr sz="1600" b="0" dirty="0" err="1"/>
              <a:t>Ces</a:t>
            </a:r>
            <a:r>
              <a:rPr sz="1600" b="0" dirty="0"/>
              <a:t> </a:t>
            </a:r>
            <a:r>
              <a:rPr sz="1600" b="0" dirty="0" err="1"/>
              <a:t>outils</a:t>
            </a:r>
            <a:r>
              <a:rPr sz="1600" b="0" dirty="0"/>
              <a:t> </a:t>
            </a:r>
            <a:r>
              <a:rPr sz="1600" b="0" dirty="0" err="1"/>
              <a:t>sont</a:t>
            </a:r>
            <a:r>
              <a:rPr sz="1600" b="0" dirty="0"/>
              <a:t> des </a:t>
            </a:r>
            <a:r>
              <a:rPr sz="1600" b="0" dirty="0" err="1"/>
              <a:t>plateformes</a:t>
            </a:r>
            <a:r>
              <a:rPr sz="1600" b="0" dirty="0"/>
              <a:t> propriétaires</a:t>
            </a:r>
          </a:p>
          <a:p>
            <a:r>
              <a:rPr sz="1600" b="0" dirty="0"/>
              <a:t>   </a:t>
            </a:r>
            <a:r>
              <a:rPr sz="1600" b="0" dirty="0" err="1"/>
              <a:t>hébergées</a:t>
            </a:r>
            <a:r>
              <a:rPr sz="1600" b="0" dirty="0"/>
              <a:t> hors de </a:t>
            </a:r>
            <a:r>
              <a:rPr sz="1600" b="0" dirty="0" err="1"/>
              <a:t>l'institution</a:t>
            </a:r>
            <a:r>
              <a:rPr sz="1600" b="0" dirty="0"/>
              <a:t>.</a:t>
            </a:r>
          </a:p>
          <a:p>
            <a:endParaRPr sz="1600" b="0" dirty="0"/>
          </a:p>
          <a:p>
            <a:r>
              <a:rPr sz="1600" b="0" dirty="0"/>
              <a:t>3. Mastodon est open source, auto-</a:t>
            </a:r>
            <a:r>
              <a:rPr sz="1600" b="0" dirty="0" err="1"/>
              <a:t>hébergeable</a:t>
            </a:r>
            <a:r>
              <a:rPr sz="1600" b="0" dirty="0"/>
              <a:t> et </a:t>
            </a:r>
            <a:r>
              <a:rPr sz="1600" b="0" dirty="0" err="1"/>
              <a:t>décentralisé</a:t>
            </a:r>
            <a:r>
              <a:rPr sz="1600" b="0" dirty="0"/>
              <a:t> — données sur </a:t>
            </a:r>
            <a:r>
              <a:rPr sz="1600" b="0" dirty="0" err="1"/>
              <a:t>nos</a:t>
            </a:r>
            <a:r>
              <a:rPr sz="1600" b="0" dirty="0"/>
              <a:t> </a:t>
            </a:r>
            <a:r>
              <a:rPr sz="1600" b="0" dirty="0" err="1"/>
              <a:t>serveurs</a:t>
            </a:r>
            <a:r>
              <a:rPr sz="1600" b="0" dirty="0"/>
              <a:t>.</a:t>
            </a:r>
          </a:p>
          <a:p>
            <a:endParaRPr sz="1600" b="0" dirty="0"/>
          </a:p>
          <a:p>
            <a:r>
              <a:rPr sz="1600" b="0" dirty="0"/>
              <a:t>4. Un </a:t>
            </a:r>
            <a:r>
              <a:rPr sz="1600" b="0" dirty="0" err="1"/>
              <a:t>serveur</a:t>
            </a:r>
            <a:r>
              <a:rPr sz="1600" b="0" dirty="0"/>
              <a:t> Mastodon interne </a:t>
            </a:r>
            <a:r>
              <a:rPr sz="1600" b="0" dirty="0" err="1"/>
              <a:t>simplifierait</a:t>
            </a:r>
            <a:endParaRPr sz="1600" b="0" dirty="0"/>
          </a:p>
          <a:p>
            <a:r>
              <a:rPr sz="1600" b="0" dirty="0"/>
              <a:t>   les </a:t>
            </a:r>
            <a:r>
              <a:rPr sz="1600" b="0" dirty="0" err="1"/>
              <a:t>échanges</a:t>
            </a:r>
            <a:endParaRPr sz="1600" b="0" dirty="0"/>
          </a:p>
        </p:txBody>
      </p:sp>
      <p:sp>
        <p:nvSpPr>
          <p:cNvPr id="6" name="RecapDroite"/>
          <p:cNvSpPr/>
          <p:nvPr/>
        </p:nvSpPr>
        <p:spPr>
          <a:xfrm>
            <a:off x="5029200" y="960120"/>
            <a:ext cx="3657600" cy="3840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0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RecapBarre"/>
          <p:cNvSpPr/>
          <p:nvPr/>
        </p:nvSpPr>
        <p:spPr>
          <a:xfrm>
            <a:off x="5029200" y="960120"/>
            <a:ext cx="3657600" cy="54864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apContenu"/>
          <p:cNvSpPr/>
          <p:nvPr/>
        </p:nvSpPr>
        <p:spPr>
          <a:xfrm>
            <a:off x="5166360" y="1097280"/>
            <a:ext cx="3383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1" dirty="0" err="1"/>
              <a:t>Avantages</a:t>
            </a:r>
            <a:r>
              <a:rPr sz="1300" b="1" dirty="0"/>
              <a:t> </a:t>
            </a:r>
            <a:r>
              <a:rPr sz="1300" b="1" dirty="0" err="1"/>
              <a:t>clés</a:t>
            </a:r>
            <a:endParaRPr sz="1300" b="1" dirty="0"/>
          </a:p>
          <a:p>
            <a:endParaRPr sz="1300" b="1" dirty="0"/>
          </a:p>
          <a:p>
            <a:r>
              <a:rPr sz="1600" b="1" dirty="0" err="1"/>
              <a:t>Souveraineté</a:t>
            </a:r>
            <a:r>
              <a:rPr sz="1600" b="1" dirty="0"/>
              <a:t> :</a:t>
            </a:r>
          </a:p>
          <a:p>
            <a:r>
              <a:rPr sz="1600" b="0" dirty="0"/>
              <a:t>Données </a:t>
            </a:r>
            <a:r>
              <a:rPr sz="1600" b="0" dirty="0" err="1"/>
              <a:t>hébergées</a:t>
            </a:r>
            <a:r>
              <a:rPr sz="1600" b="0" dirty="0"/>
              <a:t> </a:t>
            </a:r>
            <a:r>
              <a:rPr sz="1600" b="0" dirty="0" err="1"/>
              <a:t>en</a:t>
            </a:r>
            <a:r>
              <a:rPr sz="1600" b="0" dirty="0"/>
              <a:t> interne</a:t>
            </a:r>
          </a:p>
          <a:p>
            <a:endParaRPr sz="1600" b="0" dirty="0"/>
          </a:p>
          <a:p>
            <a:r>
              <a:rPr sz="1600" b="1" dirty="0" err="1"/>
              <a:t>Contrôle</a:t>
            </a:r>
            <a:r>
              <a:rPr sz="1600" b="1" dirty="0"/>
              <a:t> :</a:t>
            </a:r>
          </a:p>
          <a:p>
            <a:r>
              <a:rPr sz="1600" b="0" dirty="0" err="1"/>
              <a:t>Rôles</a:t>
            </a:r>
            <a:r>
              <a:rPr sz="1600" b="0" dirty="0"/>
              <a:t> </a:t>
            </a:r>
            <a:r>
              <a:rPr sz="1600" b="0" dirty="0" err="1"/>
              <a:t>gérés</a:t>
            </a:r>
            <a:r>
              <a:rPr sz="1600" b="0" dirty="0"/>
              <a:t> via </a:t>
            </a:r>
            <a:r>
              <a:rPr sz="1600" b="0" dirty="0" err="1"/>
              <a:t>annuaire</a:t>
            </a:r>
            <a:r>
              <a:rPr sz="1600" b="0" dirty="0"/>
              <a:t> LDAP </a:t>
            </a:r>
            <a:r>
              <a:rPr sz="1600" b="0" dirty="0" err="1"/>
              <a:t>existant</a:t>
            </a:r>
            <a:endParaRPr sz="1600" b="0" dirty="0"/>
          </a:p>
          <a:p>
            <a:endParaRPr sz="1600" b="0" dirty="0"/>
          </a:p>
          <a:p>
            <a:r>
              <a:rPr sz="1600" b="1" dirty="0"/>
              <a:t>Coût :</a:t>
            </a:r>
          </a:p>
          <a:p>
            <a:r>
              <a:rPr sz="1600" b="0" dirty="0"/>
              <a:t>100 % open source, sans </a:t>
            </a:r>
            <a:r>
              <a:rPr sz="1600" b="0" dirty="0" err="1"/>
              <a:t>licence</a:t>
            </a:r>
            <a:endParaRPr sz="1600" b="0" dirty="0"/>
          </a:p>
        </p:txBody>
      </p:sp>
      <p:sp>
        <p:nvSpPr>
          <p:cNvPr id="9" name="BadgeNum"/>
          <p:cNvSpPr/>
          <p:nvPr/>
        </p:nvSpPr>
        <p:spPr>
          <a:xfrm>
            <a:off x="8549640" y="4736592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0" name="NumSlide"/>
          <p:cNvSpPr/>
          <p:nvPr/>
        </p:nvSpPr>
        <p:spPr>
          <a:xfrm>
            <a:off x="8549640" y="473659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dirty="0"/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rreOrange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5" name="NumSection"/>
          <p:cNvSpPr/>
          <p:nvPr/>
        </p:nvSpPr>
        <p:spPr>
          <a:xfrm>
            <a:off x="457200" y="1280000"/>
            <a:ext cx="82296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t>Partie 2</a:t>
            </a:r>
          </a:p>
        </p:txBody>
      </p:sp>
      <p:sp>
        <p:nvSpPr>
          <p:cNvPr id="6" name="TitreSection"/>
          <p:cNvSpPr/>
          <p:nvPr/>
        </p:nvSpPr>
        <p:spPr>
          <a:xfrm>
            <a:off x="457200" y="1780000"/>
            <a:ext cx="822960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t>Architecture technique</a:t>
            </a:r>
          </a:p>
        </p:txBody>
      </p:sp>
      <p:sp>
        <p:nvSpPr>
          <p:cNvPr id="7" name="SousTitreSection"/>
          <p:cNvSpPr/>
          <p:nvPr/>
        </p:nvSpPr>
        <p:spPr>
          <a:xfrm>
            <a:off x="457200" y="2750000"/>
            <a:ext cx="82296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t>OpenLDAP · Keycloak · Mastodon · Nginx</a:t>
            </a:r>
          </a:p>
        </p:txBody>
      </p:sp>
      <p:sp>
        <p:nvSpPr>
          <p:cNvPr id="8" name="BadgeNum"/>
          <p:cNvSpPr/>
          <p:nvPr/>
        </p:nvSpPr>
        <p:spPr>
          <a:xfrm>
            <a:off x="8549640" y="4736592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9" name="NumSlide"/>
          <p:cNvSpPr/>
          <p:nvPr/>
        </p:nvSpPr>
        <p:spPr>
          <a:xfrm>
            <a:off x="8549640" y="473659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dirty="0"/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eBleuHaut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BarreOrangeAccent"/>
          <p:cNvSpPr/>
          <p:nvPr/>
        </p:nvSpPr>
        <p:spPr>
          <a:xfrm>
            <a:off x="0" y="73152"/>
            <a:ext cx="3840480" cy="4572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itreSlide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t>Les 3 briques du projet</a:t>
            </a:r>
          </a:p>
        </p:txBody>
      </p:sp>
      <p:sp>
        <p:nvSpPr>
          <p:cNvPr id="5" name="Carte1Fond"/>
          <p:cNvSpPr/>
          <p:nvPr/>
        </p:nvSpPr>
        <p:spPr>
          <a:xfrm>
            <a:off x="320040" y="960120"/>
            <a:ext cx="2743200" cy="3840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0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Carte1Barre"/>
          <p:cNvSpPr/>
          <p:nvPr/>
        </p:nvSpPr>
        <p:spPr>
          <a:xfrm>
            <a:off x="320040" y="960120"/>
            <a:ext cx="27432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Carte1Cercle"/>
          <p:cNvSpPr/>
          <p:nvPr/>
        </p:nvSpPr>
        <p:spPr>
          <a:xfrm>
            <a:off x="457200" y="1078992"/>
            <a:ext cx="347472" cy="347472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Carte1Num"/>
          <p:cNvSpPr/>
          <p:nvPr/>
        </p:nvSpPr>
        <p:spPr>
          <a:xfrm>
            <a:off x="45720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dirty="0"/>
              <a:t>1</a:t>
            </a:r>
          </a:p>
        </p:txBody>
      </p:sp>
      <p:sp>
        <p:nvSpPr>
          <p:cNvPr id="9" name="Carte1Titre"/>
          <p:cNvSpPr/>
          <p:nvPr/>
        </p:nvSpPr>
        <p:spPr>
          <a:xfrm>
            <a:off x="886968" y="1097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t>OpenLDAP</a:t>
            </a:r>
          </a:p>
        </p:txBody>
      </p:sp>
      <p:sp>
        <p:nvSpPr>
          <p:cNvPr id="10" name="Carte1Corps"/>
          <p:cNvSpPr/>
          <p:nvPr/>
        </p:nvSpPr>
        <p:spPr>
          <a:xfrm>
            <a:off x="457200" y="1572768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dirty="0" err="1"/>
              <a:t>Annuaire</a:t>
            </a:r>
            <a:r>
              <a:rPr dirty="0"/>
              <a:t> </a:t>
            </a:r>
            <a:r>
              <a:rPr dirty="0" err="1"/>
              <a:t>centralisé</a:t>
            </a:r>
            <a:r>
              <a:rPr dirty="0"/>
              <a:t>.
</a:t>
            </a:r>
            <a:r>
              <a:rPr dirty="0" err="1"/>
              <a:t>Groupes</a:t>
            </a:r>
            <a:r>
              <a:rPr dirty="0"/>
              <a:t> : teacher, tutor, student.
Source de vérité unique pour les </a:t>
            </a:r>
            <a:r>
              <a:rPr dirty="0" err="1"/>
              <a:t>identités</a:t>
            </a:r>
            <a:r>
              <a:rPr dirty="0"/>
              <a:t>.</a:t>
            </a:r>
          </a:p>
        </p:txBody>
      </p:sp>
      <p:sp>
        <p:nvSpPr>
          <p:cNvPr id="11" name="Carte2Fond"/>
          <p:cNvSpPr/>
          <p:nvPr/>
        </p:nvSpPr>
        <p:spPr>
          <a:xfrm>
            <a:off x="3246120" y="960120"/>
            <a:ext cx="2743200" cy="3840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0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Carte2Barre"/>
          <p:cNvSpPr/>
          <p:nvPr/>
        </p:nvSpPr>
        <p:spPr>
          <a:xfrm>
            <a:off x="3246120" y="960120"/>
            <a:ext cx="27432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Carte2Cercle"/>
          <p:cNvSpPr/>
          <p:nvPr/>
        </p:nvSpPr>
        <p:spPr>
          <a:xfrm>
            <a:off x="3383280" y="1078992"/>
            <a:ext cx="347472" cy="347472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Carte2Num"/>
          <p:cNvSpPr/>
          <p:nvPr/>
        </p:nvSpPr>
        <p:spPr>
          <a:xfrm>
            <a:off x="338328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dirty="0"/>
              <a:t>2</a:t>
            </a:r>
          </a:p>
        </p:txBody>
      </p:sp>
      <p:sp>
        <p:nvSpPr>
          <p:cNvPr id="15" name="Carte2Titre"/>
          <p:cNvSpPr/>
          <p:nvPr/>
        </p:nvSpPr>
        <p:spPr>
          <a:xfrm>
            <a:off x="3813048" y="1097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dirty="0" err="1"/>
              <a:t>Keycloak</a:t>
            </a:r>
            <a:endParaRPr dirty="0"/>
          </a:p>
        </p:txBody>
      </p:sp>
      <p:sp>
        <p:nvSpPr>
          <p:cNvPr id="16" name="Carte2Corps"/>
          <p:cNvSpPr/>
          <p:nvPr/>
        </p:nvSpPr>
        <p:spPr>
          <a:xfrm>
            <a:off x="3383280" y="1572768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dirty="0"/>
              <a:t>Fédération </a:t>
            </a:r>
            <a:r>
              <a:rPr dirty="0" err="1"/>
              <a:t>d'identité</a:t>
            </a:r>
            <a:r>
              <a:rPr dirty="0"/>
              <a:t> (OIDC).
</a:t>
            </a:r>
            <a:r>
              <a:rPr dirty="0" err="1"/>
              <a:t>Importe</a:t>
            </a:r>
            <a:r>
              <a:rPr dirty="0"/>
              <a:t> les </a:t>
            </a:r>
            <a:r>
              <a:rPr dirty="0" err="1"/>
              <a:t>utilisateurs</a:t>
            </a:r>
            <a:r>
              <a:rPr dirty="0"/>
              <a:t> </a:t>
            </a:r>
            <a:r>
              <a:rPr dirty="0" err="1"/>
              <a:t>depuis</a:t>
            </a:r>
            <a:r>
              <a:rPr dirty="0"/>
              <a:t> LDAP.
</a:t>
            </a:r>
            <a:r>
              <a:rPr dirty="0" err="1"/>
              <a:t>Émet</a:t>
            </a:r>
            <a:r>
              <a:rPr dirty="0"/>
              <a:t> les tokens JWT avec les </a:t>
            </a:r>
            <a:r>
              <a:rPr dirty="0" err="1"/>
              <a:t>rôles</a:t>
            </a:r>
            <a:r>
              <a:rPr dirty="0"/>
              <a:t>.</a:t>
            </a:r>
          </a:p>
        </p:txBody>
      </p:sp>
      <p:sp>
        <p:nvSpPr>
          <p:cNvPr id="17" name="Carte3Fond"/>
          <p:cNvSpPr/>
          <p:nvPr/>
        </p:nvSpPr>
        <p:spPr>
          <a:xfrm>
            <a:off x="6172200" y="960120"/>
            <a:ext cx="2743200" cy="3840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0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Carte3Barre"/>
          <p:cNvSpPr/>
          <p:nvPr/>
        </p:nvSpPr>
        <p:spPr>
          <a:xfrm>
            <a:off x="6172200" y="960120"/>
            <a:ext cx="27432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Carte3Cercle"/>
          <p:cNvSpPr/>
          <p:nvPr/>
        </p:nvSpPr>
        <p:spPr>
          <a:xfrm>
            <a:off x="6309360" y="1078992"/>
            <a:ext cx="347472" cy="347472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Carte3Num"/>
          <p:cNvSpPr/>
          <p:nvPr/>
        </p:nvSpPr>
        <p:spPr>
          <a:xfrm>
            <a:off x="630936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3</a:t>
            </a:r>
          </a:p>
        </p:txBody>
      </p:sp>
      <p:sp>
        <p:nvSpPr>
          <p:cNvPr id="21" name="Carte3Titre"/>
          <p:cNvSpPr/>
          <p:nvPr/>
        </p:nvSpPr>
        <p:spPr>
          <a:xfrm>
            <a:off x="6739128" y="1097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t>Mastodon</a:t>
            </a:r>
          </a:p>
        </p:txBody>
      </p:sp>
      <p:sp>
        <p:nvSpPr>
          <p:cNvPr id="22" name="Carte3Corps"/>
          <p:cNvSpPr/>
          <p:nvPr/>
        </p:nvSpPr>
        <p:spPr>
          <a:xfrm>
            <a:off x="6309360" y="1572768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t>Réseau social auto-hébergé.
Authentification SSO via Keycloak.
Rôle attribué automatiquement à la connexion.</a:t>
            </a:r>
          </a:p>
        </p:txBody>
      </p:sp>
      <p:sp>
        <p:nvSpPr>
          <p:cNvPr id="23" name="BadgeNum"/>
          <p:cNvSpPr/>
          <p:nvPr/>
        </p:nvSpPr>
        <p:spPr>
          <a:xfrm>
            <a:off x="8549640" y="4736592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24" name="NumSlide"/>
          <p:cNvSpPr/>
          <p:nvPr/>
        </p:nvSpPr>
        <p:spPr>
          <a:xfrm>
            <a:off x="8549640" y="473659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dirty="0"/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5373F-D818-8EB5-F943-9BACD2335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eBleuHaut">
            <a:extLst>
              <a:ext uri="{FF2B5EF4-FFF2-40B4-BE49-F238E27FC236}">
                <a16:creationId xmlns:a16="http://schemas.microsoft.com/office/drawing/2014/main" id="{9D9E32D3-5384-740E-79C2-6AA9210EF31F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BarreOrangeAccent">
            <a:extLst>
              <a:ext uri="{FF2B5EF4-FFF2-40B4-BE49-F238E27FC236}">
                <a16:creationId xmlns:a16="http://schemas.microsoft.com/office/drawing/2014/main" id="{C0322561-5C75-230D-B5A5-AD62D27CA11A}"/>
              </a:ext>
            </a:extLst>
          </p:cNvPr>
          <p:cNvSpPr/>
          <p:nvPr/>
        </p:nvSpPr>
        <p:spPr>
          <a:xfrm>
            <a:off x="0" y="73152"/>
            <a:ext cx="3840480" cy="4572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itreSlide">
            <a:extLst>
              <a:ext uri="{FF2B5EF4-FFF2-40B4-BE49-F238E27FC236}">
                <a16:creationId xmlns:a16="http://schemas.microsoft.com/office/drawing/2014/main" id="{ED9C652A-2470-07F8-D6F6-65C0DB9285AA}"/>
              </a:ext>
            </a:extLst>
          </p:cNvPr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t>Les 3 briques du projet</a:t>
            </a:r>
          </a:p>
        </p:txBody>
      </p:sp>
      <p:sp>
        <p:nvSpPr>
          <p:cNvPr id="23" name="BadgeNum">
            <a:extLst>
              <a:ext uri="{FF2B5EF4-FFF2-40B4-BE49-F238E27FC236}">
                <a16:creationId xmlns:a16="http://schemas.microsoft.com/office/drawing/2014/main" id="{A11D0B55-3288-0A83-F341-2014352E5D37}"/>
              </a:ext>
            </a:extLst>
          </p:cNvPr>
          <p:cNvSpPr/>
          <p:nvPr/>
        </p:nvSpPr>
        <p:spPr>
          <a:xfrm>
            <a:off x="8549640" y="4736592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24" name="NumSlide">
            <a:extLst>
              <a:ext uri="{FF2B5EF4-FFF2-40B4-BE49-F238E27FC236}">
                <a16:creationId xmlns:a16="http://schemas.microsoft.com/office/drawing/2014/main" id="{22893921-4F32-9A25-9B05-6EF36766C28E}"/>
              </a:ext>
            </a:extLst>
          </p:cNvPr>
          <p:cNvSpPr/>
          <p:nvPr/>
        </p:nvSpPr>
        <p:spPr>
          <a:xfrm>
            <a:off x="8549640" y="473659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dirty="0"/>
              <a:t>6 / 10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560B0A0-E411-F4E3-F25E-5A214C9EF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952" y="905256"/>
            <a:ext cx="6018414" cy="421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208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rreOrange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5" name="NumSection"/>
          <p:cNvSpPr/>
          <p:nvPr/>
        </p:nvSpPr>
        <p:spPr>
          <a:xfrm>
            <a:off x="457200" y="1280000"/>
            <a:ext cx="82296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t>Partie 3</a:t>
            </a:r>
          </a:p>
        </p:txBody>
      </p:sp>
      <p:sp>
        <p:nvSpPr>
          <p:cNvPr id="6" name="TitreSection"/>
          <p:cNvSpPr/>
          <p:nvPr/>
        </p:nvSpPr>
        <p:spPr>
          <a:xfrm>
            <a:off x="457200" y="1780000"/>
            <a:ext cx="822960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t>Mesures de sécurité</a:t>
            </a:r>
          </a:p>
        </p:txBody>
      </p:sp>
      <p:sp>
        <p:nvSpPr>
          <p:cNvPr id="7" name="SousTitreSection"/>
          <p:cNvSpPr/>
          <p:nvPr/>
        </p:nvSpPr>
        <p:spPr>
          <a:xfrm>
            <a:off x="457200" y="2750000"/>
            <a:ext cx="82296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t>Isolation réseau · TLS · SSO · Single Logout · Mapping des rôles</a:t>
            </a:r>
          </a:p>
        </p:txBody>
      </p:sp>
      <p:sp>
        <p:nvSpPr>
          <p:cNvPr id="8" name="BadgeNum"/>
          <p:cNvSpPr/>
          <p:nvPr/>
        </p:nvSpPr>
        <p:spPr>
          <a:xfrm>
            <a:off x="8549640" y="4736592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9" name="NumSlide"/>
          <p:cNvSpPr/>
          <p:nvPr/>
        </p:nvSpPr>
        <p:spPr>
          <a:xfrm>
            <a:off x="8549640" y="473659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dirty="0"/>
              <a:t>7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eBleu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BarreOrange"/>
          <p:cNvSpPr/>
          <p:nvPr/>
        </p:nvSpPr>
        <p:spPr>
          <a:xfrm>
            <a:off x="0" y="73152"/>
            <a:ext cx="3840480" cy="4572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" name="Titre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t>Mesures de sécurité  |  Architecture &amp; Rôles</a:t>
            </a:r>
          </a:p>
        </p:txBody>
      </p:sp>
      <p:sp>
        <p:nvSpPr>
          <p:cNvPr id="5" name="BlocFond"/>
          <p:cNvSpPr/>
          <p:nvPr/>
        </p:nvSpPr>
        <p:spPr>
          <a:xfrm>
            <a:off x="2267251" y="905256"/>
            <a:ext cx="4114800" cy="3840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0E4F5"/>
            </a:solidFill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BlocBarre"/>
          <p:cNvSpPr/>
          <p:nvPr/>
        </p:nvSpPr>
        <p:spPr>
          <a:xfrm>
            <a:off x="2267251" y="905256"/>
            <a:ext cx="41148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7" name="ContenuTexte"/>
          <p:cNvSpPr/>
          <p:nvPr/>
        </p:nvSpPr>
        <p:spPr>
          <a:xfrm>
            <a:off x="2495851" y="1042416"/>
            <a:ext cx="3657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fr-BE" sz="1200" b="1" dirty="0"/>
          </a:p>
          <a:p>
            <a:pPr marL="0" indent="0">
              <a:buNone/>
            </a:pPr>
            <a:r>
              <a:rPr sz="1200" b="1" dirty="0"/>
              <a:t>Isolation réseau</a:t>
            </a:r>
          </a:p>
          <a:p>
            <a:r>
              <a:rPr sz="1100" b="0" dirty="0"/>
              <a:t>Subnet Docker 172.33.0.0/16 </a:t>
            </a:r>
            <a:r>
              <a:rPr sz="1100" b="0" dirty="0" err="1"/>
              <a:t>dédié</a:t>
            </a:r>
            <a:endParaRPr sz="1100" b="0" dirty="0"/>
          </a:p>
          <a:p>
            <a:r>
              <a:rPr sz="1100" b="0" dirty="0"/>
              <a:t>Nginx seul exposé (port 8443, TLS</a:t>
            </a:r>
            <a:r>
              <a:rPr lang="fr-BE" sz="1100" b="0" dirty="0"/>
              <a:t> 1.3</a:t>
            </a:r>
            <a:r>
              <a:rPr sz="1100" b="0" dirty="0"/>
              <a:t>)</a:t>
            </a:r>
          </a:p>
          <a:p>
            <a:endParaRPr sz="1100" b="0" dirty="0"/>
          </a:p>
          <a:p>
            <a:r>
              <a:rPr sz="1200" b="1" dirty="0" err="1"/>
              <a:t>Authentification</a:t>
            </a:r>
            <a:endParaRPr sz="1200" b="1" dirty="0"/>
          </a:p>
          <a:p>
            <a:r>
              <a:rPr sz="1100" b="0" dirty="0"/>
              <a:t>SSO via </a:t>
            </a:r>
            <a:r>
              <a:rPr sz="1100" b="0" dirty="0" err="1"/>
              <a:t>Keycloak</a:t>
            </a:r>
            <a:r>
              <a:rPr sz="1100" b="0" dirty="0"/>
              <a:t> (OIDC/OAuth2)</a:t>
            </a:r>
          </a:p>
          <a:p>
            <a:r>
              <a:rPr sz="1100" b="0" dirty="0"/>
              <a:t>Pas de mot de passe </a:t>
            </a:r>
            <a:r>
              <a:rPr sz="1100" b="0" dirty="0" err="1"/>
              <a:t>stocké</a:t>
            </a:r>
            <a:r>
              <a:rPr sz="1100" b="0" dirty="0"/>
              <a:t> dans Mastodon</a:t>
            </a:r>
            <a:r>
              <a:rPr lang="fr-BE" sz="1100" b="0" dirty="0"/>
              <a:t> – TOTP</a:t>
            </a:r>
          </a:p>
          <a:p>
            <a:r>
              <a:rPr lang="fr-BE" sz="1100" dirty="0"/>
              <a:t>Protection brute-force</a:t>
            </a:r>
            <a:endParaRPr sz="1100" b="0" dirty="0"/>
          </a:p>
          <a:p>
            <a:endParaRPr sz="1100" b="0" dirty="0"/>
          </a:p>
          <a:p>
            <a:r>
              <a:rPr sz="1200" b="1" dirty="0" err="1"/>
              <a:t>Autorisation</a:t>
            </a:r>
            <a:endParaRPr sz="1200" b="1" dirty="0"/>
          </a:p>
          <a:p>
            <a:r>
              <a:rPr sz="1100" b="0" dirty="0"/>
              <a:t>teacher  →  Admin Mastodon</a:t>
            </a:r>
          </a:p>
          <a:p>
            <a:r>
              <a:rPr sz="1100" b="0" dirty="0"/>
              <a:t>tutor    →  </a:t>
            </a:r>
            <a:r>
              <a:rPr sz="1100" b="0" dirty="0" err="1"/>
              <a:t>Modérateur</a:t>
            </a:r>
            <a:endParaRPr sz="1100" b="0" dirty="0"/>
          </a:p>
          <a:p>
            <a:r>
              <a:rPr sz="1100" b="0" dirty="0"/>
              <a:t>student  →  </a:t>
            </a:r>
            <a:r>
              <a:rPr sz="1100" b="0" dirty="0" err="1"/>
              <a:t>Utilisateur</a:t>
            </a:r>
            <a:endParaRPr sz="1100" b="0" dirty="0"/>
          </a:p>
          <a:p>
            <a:endParaRPr sz="1100" b="0" dirty="0"/>
          </a:p>
          <a:p>
            <a:r>
              <a:rPr lang="fr-BE" sz="1200" b="1" dirty="0"/>
              <a:t>Confidentialité</a:t>
            </a:r>
          </a:p>
          <a:p>
            <a:r>
              <a:rPr lang="fr-BE" sz="1200" dirty="0"/>
              <a:t>API </a:t>
            </a:r>
            <a:r>
              <a:rPr lang="fr-BE" sz="1200" dirty="0" err="1"/>
              <a:t>inacessible</a:t>
            </a:r>
            <a:r>
              <a:rPr lang="fr-BE" sz="1200" dirty="0"/>
              <a:t> sans login</a:t>
            </a:r>
          </a:p>
          <a:p>
            <a:r>
              <a:rPr lang="fr-BE" sz="1200" dirty="0"/>
              <a:t>Profils masqués aux utilisateurs non connectés</a:t>
            </a:r>
          </a:p>
          <a:p>
            <a:r>
              <a:rPr lang="fr-BE" sz="1200" dirty="0"/>
              <a:t>Audit logs des connexion/déconnexion</a:t>
            </a:r>
          </a:p>
          <a:p>
            <a:endParaRPr lang="fr-BE" sz="1200" dirty="0"/>
          </a:p>
          <a:p>
            <a:endParaRPr lang="fr-BE" sz="1200" dirty="0"/>
          </a:p>
        </p:txBody>
      </p:sp>
      <p:sp>
        <p:nvSpPr>
          <p:cNvPr id="10" name="BadgeNum"/>
          <p:cNvSpPr/>
          <p:nvPr/>
        </p:nvSpPr>
        <p:spPr>
          <a:xfrm>
            <a:off x="8549640" y="4736592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1" name="NumSlide"/>
          <p:cNvSpPr/>
          <p:nvPr/>
        </p:nvSpPr>
        <p:spPr>
          <a:xfrm>
            <a:off x="8549640" y="473659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dirty="0"/>
              <a:t>8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3BB61-FD0E-618F-10E4-9C3EF7464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eBleu">
            <a:extLst>
              <a:ext uri="{FF2B5EF4-FFF2-40B4-BE49-F238E27FC236}">
                <a16:creationId xmlns:a16="http://schemas.microsoft.com/office/drawing/2014/main" id="{6BB53A67-32F1-86D9-B9D9-ED92CCDF319E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BarreOrange">
            <a:extLst>
              <a:ext uri="{FF2B5EF4-FFF2-40B4-BE49-F238E27FC236}">
                <a16:creationId xmlns:a16="http://schemas.microsoft.com/office/drawing/2014/main" id="{5F364B15-C4FF-0C5B-A9A6-1F64E6FF28EF}"/>
              </a:ext>
            </a:extLst>
          </p:cNvPr>
          <p:cNvSpPr/>
          <p:nvPr/>
        </p:nvSpPr>
        <p:spPr>
          <a:xfrm>
            <a:off x="0" y="73152"/>
            <a:ext cx="3840480" cy="4572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" name="Titre">
            <a:extLst>
              <a:ext uri="{FF2B5EF4-FFF2-40B4-BE49-F238E27FC236}">
                <a16:creationId xmlns:a16="http://schemas.microsoft.com/office/drawing/2014/main" id="{4A93ECF6-52B0-D71A-1C3E-134AECE444F2}"/>
              </a:ext>
            </a:extLst>
          </p:cNvPr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t>Mesures de sécurité  |  Architecture &amp; Rôles</a:t>
            </a:r>
          </a:p>
        </p:txBody>
      </p:sp>
      <p:sp>
        <p:nvSpPr>
          <p:cNvPr id="10" name="BadgeNum">
            <a:extLst>
              <a:ext uri="{FF2B5EF4-FFF2-40B4-BE49-F238E27FC236}">
                <a16:creationId xmlns:a16="http://schemas.microsoft.com/office/drawing/2014/main" id="{33E170A7-21CB-2302-076C-3CC47333D418}"/>
              </a:ext>
            </a:extLst>
          </p:cNvPr>
          <p:cNvSpPr/>
          <p:nvPr/>
        </p:nvSpPr>
        <p:spPr>
          <a:xfrm>
            <a:off x="8549640" y="4736592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1" name="NumSlide">
            <a:extLst>
              <a:ext uri="{FF2B5EF4-FFF2-40B4-BE49-F238E27FC236}">
                <a16:creationId xmlns:a16="http://schemas.microsoft.com/office/drawing/2014/main" id="{5D3E5D8E-3568-4880-E61E-2A645C983CE1}"/>
              </a:ext>
            </a:extLst>
          </p:cNvPr>
          <p:cNvSpPr/>
          <p:nvPr/>
        </p:nvSpPr>
        <p:spPr>
          <a:xfrm>
            <a:off x="8549640" y="473659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dirty="0"/>
              <a:t>8 / 10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8F1FF1A-E567-A03E-622F-88E0BD4BF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9655"/>
            <a:ext cx="9144000" cy="3276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755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02B52-0A86-292E-DC6A-B87B6BD79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eBleu">
            <a:extLst>
              <a:ext uri="{FF2B5EF4-FFF2-40B4-BE49-F238E27FC236}">
                <a16:creationId xmlns:a16="http://schemas.microsoft.com/office/drawing/2014/main" id="{8F5E4ACC-DB37-631D-A49E-97631C6C91B5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BarreOrange">
            <a:extLst>
              <a:ext uri="{FF2B5EF4-FFF2-40B4-BE49-F238E27FC236}">
                <a16:creationId xmlns:a16="http://schemas.microsoft.com/office/drawing/2014/main" id="{9BA6CE0D-B809-21D3-1573-3CF6C7DA84A3}"/>
              </a:ext>
            </a:extLst>
          </p:cNvPr>
          <p:cNvSpPr/>
          <p:nvPr/>
        </p:nvSpPr>
        <p:spPr>
          <a:xfrm>
            <a:off x="0" y="73152"/>
            <a:ext cx="3840480" cy="4572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" name="Titre">
            <a:extLst>
              <a:ext uri="{FF2B5EF4-FFF2-40B4-BE49-F238E27FC236}">
                <a16:creationId xmlns:a16="http://schemas.microsoft.com/office/drawing/2014/main" id="{FFA46F7A-08EF-82FC-423F-A0432F08545E}"/>
              </a:ext>
            </a:extLst>
          </p:cNvPr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t>Mesures de sécurité  |  Architecture &amp; Rôles</a:t>
            </a:r>
          </a:p>
        </p:txBody>
      </p:sp>
      <p:sp>
        <p:nvSpPr>
          <p:cNvPr id="10" name="BadgeNum">
            <a:extLst>
              <a:ext uri="{FF2B5EF4-FFF2-40B4-BE49-F238E27FC236}">
                <a16:creationId xmlns:a16="http://schemas.microsoft.com/office/drawing/2014/main" id="{D7E611A9-9AF5-4F81-7342-3130828375D0}"/>
              </a:ext>
            </a:extLst>
          </p:cNvPr>
          <p:cNvSpPr/>
          <p:nvPr/>
        </p:nvSpPr>
        <p:spPr>
          <a:xfrm>
            <a:off x="8549640" y="4736592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1" name="NumSlide">
            <a:extLst>
              <a:ext uri="{FF2B5EF4-FFF2-40B4-BE49-F238E27FC236}">
                <a16:creationId xmlns:a16="http://schemas.microsoft.com/office/drawing/2014/main" id="{5E08D0F8-1784-C991-FDE6-527CF20502F1}"/>
              </a:ext>
            </a:extLst>
          </p:cNvPr>
          <p:cNvSpPr/>
          <p:nvPr/>
        </p:nvSpPr>
        <p:spPr>
          <a:xfrm>
            <a:off x="8549640" y="473659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dirty="0"/>
              <a:t>8 / 10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6C43EB6-658D-30F7-448E-D34E85CD6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915" y="828602"/>
            <a:ext cx="6090169" cy="431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104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eBleu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BarreOrange"/>
          <p:cNvSpPr/>
          <p:nvPr/>
        </p:nvSpPr>
        <p:spPr>
          <a:xfrm>
            <a:off x="0" y="73152"/>
            <a:ext cx="3840480" cy="4572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" name="Titre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dirty="0" err="1"/>
              <a:t>Démonstration</a:t>
            </a:r>
            <a:r>
              <a:rPr dirty="0"/>
              <a:t>  |  </a:t>
            </a:r>
            <a:r>
              <a:rPr dirty="0" err="1"/>
              <a:t>Scénario</a:t>
            </a:r>
            <a:r>
              <a:rPr dirty="0"/>
              <a:t> live</a:t>
            </a:r>
          </a:p>
        </p:txBody>
      </p:sp>
      <p:sp>
        <p:nvSpPr>
          <p:cNvPr id="6" name="BadgeNum"/>
          <p:cNvSpPr/>
          <p:nvPr/>
        </p:nvSpPr>
        <p:spPr>
          <a:xfrm>
            <a:off x="8549640" y="4736592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7" name="NumSlide"/>
          <p:cNvSpPr/>
          <p:nvPr/>
        </p:nvSpPr>
        <p:spPr>
          <a:xfrm>
            <a:off x="8549640" y="473659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dirty="0"/>
              <a:t>9 / 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eBleu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BarreOrange"/>
          <p:cNvSpPr/>
          <p:nvPr/>
        </p:nvSpPr>
        <p:spPr>
          <a:xfrm>
            <a:off x="0" y="73152"/>
            <a:ext cx="3840480" cy="4572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" name="Titre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t>Conclusion  |  Bonne idée pour la Henallux ?</a:t>
            </a:r>
          </a:p>
        </p:txBody>
      </p:sp>
      <p:sp>
        <p:nvSpPr>
          <p:cNvPr id="5" name="Col1Fond"/>
          <p:cNvSpPr/>
          <p:nvPr/>
        </p:nvSpPr>
        <p:spPr>
          <a:xfrm>
            <a:off x="320040" y="960120"/>
            <a:ext cx="4114800" cy="3840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0E4F5"/>
            </a:solidFill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Col1Barre"/>
          <p:cNvSpPr/>
          <p:nvPr/>
        </p:nvSpPr>
        <p:spPr>
          <a:xfrm>
            <a:off x="320040" y="960120"/>
            <a:ext cx="411480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7" name="Col1Contenu"/>
          <p:cNvSpPr/>
          <p:nvPr/>
        </p:nvSpPr>
        <p:spPr>
          <a:xfrm>
            <a:off x="548640" y="1097280"/>
            <a:ext cx="3657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1" dirty="0"/>
              <a:t>Points </a:t>
            </a:r>
            <a:r>
              <a:rPr sz="1300" b="1" dirty="0" err="1"/>
              <a:t>positifs</a:t>
            </a:r>
            <a:endParaRPr sz="1300" b="1" dirty="0"/>
          </a:p>
          <a:p>
            <a:endParaRPr sz="1300" b="1" dirty="0"/>
          </a:p>
          <a:p>
            <a:r>
              <a:rPr b="0" dirty="0"/>
              <a:t>✔</a:t>
            </a:r>
            <a:r>
              <a:rPr sz="1100" b="0" dirty="0"/>
              <a:t> </a:t>
            </a:r>
            <a:r>
              <a:rPr b="0" dirty="0"/>
              <a:t> </a:t>
            </a:r>
            <a:r>
              <a:rPr b="0" dirty="0" err="1"/>
              <a:t>Souveraineté</a:t>
            </a:r>
            <a:r>
              <a:rPr b="0" dirty="0"/>
              <a:t> des données</a:t>
            </a:r>
            <a:endParaRPr lang="fr-BE" b="0" dirty="0"/>
          </a:p>
          <a:p>
            <a:endParaRPr b="0" dirty="0"/>
          </a:p>
          <a:p>
            <a:r>
              <a:rPr b="0" dirty="0"/>
              <a:t>✔  </a:t>
            </a:r>
            <a:r>
              <a:rPr b="0" dirty="0" err="1"/>
              <a:t>Intégration</a:t>
            </a:r>
            <a:r>
              <a:rPr b="0" dirty="0"/>
              <a:t> LDAP </a:t>
            </a:r>
            <a:r>
              <a:rPr b="0" dirty="0" err="1"/>
              <a:t>existant</a:t>
            </a:r>
            <a:endParaRPr b="0" dirty="0"/>
          </a:p>
          <a:p>
            <a:endParaRPr lang="fr-BE" b="0" dirty="0"/>
          </a:p>
          <a:p>
            <a:r>
              <a:rPr b="0" dirty="0"/>
              <a:t>✔  </a:t>
            </a:r>
            <a:r>
              <a:rPr b="0" dirty="0" err="1"/>
              <a:t>Rôles</a:t>
            </a:r>
            <a:r>
              <a:rPr b="0" dirty="0"/>
              <a:t> </a:t>
            </a:r>
            <a:r>
              <a:rPr b="0" dirty="0" err="1"/>
              <a:t>automatiques</a:t>
            </a:r>
            <a:endParaRPr b="0" dirty="0"/>
          </a:p>
          <a:p>
            <a:endParaRPr lang="fr-BE" b="0" dirty="0"/>
          </a:p>
          <a:p>
            <a:r>
              <a:rPr b="0" dirty="0"/>
              <a:t>✔  Open source, sans </a:t>
            </a:r>
            <a:r>
              <a:rPr b="0" dirty="0" err="1"/>
              <a:t>licence</a:t>
            </a:r>
            <a:endParaRPr b="0" dirty="0"/>
          </a:p>
          <a:p>
            <a:endParaRPr lang="fr-BE" b="0" dirty="0"/>
          </a:p>
          <a:p>
            <a:r>
              <a:rPr b="0" dirty="0"/>
              <a:t>✔  Un seul compte (SSO)</a:t>
            </a:r>
          </a:p>
          <a:p>
            <a:endParaRPr lang="fr-BE" b="0" dirty="0"/>
          </a:p>
          <a:p>
            <a:r>
              <a:rPr b="0" dirty="0"/>
              <a:t>✔  </a:t>
            </a:r>
            <a:r>
              <a:rPr b="0" dirty="0" err="1"/>
              <a:t>Déconnexion</a:t>
            </a:r>
            <a:r>
              <a:rPr b="0" dirty="0"/>
              <a:t> </a:t>
            </a:r>
            <a:r>
              <a:rPr b="0" dirty="0" err="1"/>
              <a:t>globale</a:t>
            </a:r>
            <a:r>
              <a:rPr b="0" dirty="0"/>
              <a:t> (SLO</a:t>
            </a:r>
            <a:r>
              <a:rPr sz="2000" b="0" dirty="0"/>
              <a:t>)</a:t>
            </a:r>
            <a:endParaRPr sz="1100" b="0" dirty="0"/>
          </a:p>
        </p:txBody>
      </p:sp>
      <p:sp>
        <p:nvSpPr>
          <p:cNvPr id="8" name="Col2Fond"/>
          <p:cNvSpPr/>
          <p:nvPr/>
        </p:nvSpPr>
        <p:spPr>
          <a:xfrm>
            <a:off x="4709160" y="960120"/>
            <a:ext cx="4114800" cy="3840480"/>
          </a:xfrm>
          <a:prstGeom prst="rect">
            <a:avLst/>
          </a:prstGeom>
          <a:solidFill>
            <a:srgbClr val="EAF2FB"/>
          </a:solidFill>
          <a:ln w="12700">
            <a:solidFill>
              <a:srgbClr val="D0E4F5"/>
            </a:solidFill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Col2Barre"/>
          <p:cNvSpPr/>
          <p:nvPr/>
        </p:nvSpPr>
        <p:spPr>
          <a:xfrm>
            <a:off x="4709160" y="960120"/>
            <a:ext cx="4114800" cy="54864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0" name="Col2Contenu"/>
          <p:cNvSpPr/>
          <p:nvPr/>
        </p:nvSpPr>
        <p:spPr>
          <a:xfrm>
            <a:off x="4937760" y="1097280"/>
            <a:ext cx="3657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1" dirty="0" err="1"/>
              <a:t>Limites</a:t>
            </a:r>
            <a:endParaRPr sz="1300" b="1" dirty="0"/>
          </a:p>
          <a:p>
            <a:endParaRPr sz="1300" b="1" dirty="0"/>
          </a:p>
          <a:p>
            <a:r>
              <a:rPr sz="1600" b="0" dirty="0"/>
              <a:t>✘  Mastodon = réseau social, pas un LMS</a:t>
            </a:r>
          </a:p>
          <a:p>
            <a:r>
              <a:rPr sz="1600" b="0" dirty="0"/>
              <a:t>✘  Maintenance </a:t>
            </a:r>
            <a:r>
              <a:rPr sz="1600" b="0" dirty="0" err="1"/>
              <a:t>serveur</a:t>
            </a:r>
            <a:r>
              <a:rPr sz="1600" b="0" dirty="0"/>
              <a:t> à assurer</a:t>
            </a:r>
          </a:p>
          <a:p>
            <a:r>
              <a:rPr sz="1600" b="0" dirty="0"/>
              <a:t>✘  Adoption </a:t>
            </a:r>
            <a:r>
              <a:rPr sz="1600" b="0" dirty="0" err="1"/>
              <a:t>incertaine</a:t>
            </a:r>
            <a:endParaRPr sz="1600" b="0" dirty="0"/>
          </a:p>
          <a:p>
            <a:endParaRPr sz="1600" b="0" dirty="0"/>
          </a:p>
          <a:p>
            <a:r>
              <a:rPr b="1" dirty="0"/>
              <a:t>Verdict</a:t>
            </a:r>
          </a:p>
          <a:p>
            <a:endParaRPr b="1" dirty="0"/>
          </a:p>
          <a:p>
            <a:r>
              <a:rPr sz="1600" b="0" dirty="0"/>
              <a:t>Pertinent </a:t>
            </a:r>
            <a:r>
              <a:rPr sz="1600" b="0" dirty="0" err="1"/>
              <a:t>comme</a:t>
            </a:r>
            <a:r>
              <a:rPr sz="1600" b="0" dirty="0"/>
              <a:t> </a:t>
            </a:r>
            <a:r>
              <a:rPr sz="1600" b="0" dirty="0" err="1"/>
              <a:t>complément</a:t>
            </a:r>
            <a:r>
              <a:rPr sz="1600" b="0" dirty="0"/>
              <a:t> aux </a:t>
            </a:r>
            <a:r>
              <a:rPr sz="1600" b="0" dirty="0" err="1"/>
              <a:t>outils</a:t>
            </a:r>
            <a:endParaRPr sz="1600" b="0" dirty="0"/>
          </a:p>
          <a:p>
            <a:r>
              <a:rPr sz="1600" b="0" dirty="0" err="1"/>
              <a:t>existants</a:t>
            </a:r>
            <a:r>
              <a:rPr sz="1600" b="0" dirty="0"/>
              <a:t> (Teams/Discord), pas </a:t>
            </a:r>
            <a:r>
              <a:rPr sz="1600" b="0" dirty="0" err="1"/>
              <a:t>en</a:t>
            </a:r>
            <a:endParaRPr sz="1600" b="0" dirty="0"/>
          </a:p>
          <a:p>
            <a:r>
              <a:rPr sz="1600" b="0" dirty="0" err="1"/>
              <a:t>remplacement</a:t>
            </a:r>
            <a:r>
              <a:rPr sz="1600" b="0" dirty="0"/>
              <a:t>. </a:t>
            </a:r>
            <a:r>
              <a:rPr sz="1600" b="0" dirty="0" err="1"/>
              <a:t>Idéal</a:t>
            </a:r>
            <a:r>
              <a:rPr sz="1600" b="0" dirty="0"/>
              <a:t> pour </a:t>
            </a:r>
            <a:r>
              <a:rPr sz="1600" b="0" dirty="0" err="1"/>
              <a:t>une</a:t>
            </a:r>
            <a:r>
              <a:rPr sz="1600" b="0" dirty="0"/>
              <a:t> </a:t>
            </a:r>
            <a:r>
              <a:rPr sz="1600" b="0" dirty="0" err="1"/>
              <a:t>communauté</a:t>
            </a:r>
            <a:endParaRPr sz="1600" b="0" dirty="0"/>
          </a:p>
          <a:p>
            <a:r>
              <a:rPr sz="1600" b="0" dirty="0"/>
              <a:t>interne </a:t>
            </a:r>
            <a:r>
              <a:rPr sz="1600" b="0" dirty="0" err="1"/>
              <a:t>souveraine</a:t>
            </a:r>
            <a:r>
              <a:rPr sz="1600" b="0" dirty="0"/>
              <a:t>.</a:t>
            </a:r>
          </a:p>
        </p:txBody>
      </p:sp>
      <p:sp>
        <p:nvSpPr>
          <p:cNvPr id="11" name="BadgeNum"/>
          <p:cNvSpPr/>
          <p:nvPr/>
        </p:nvSpPr>
        <p:spPr>
          <a:xfrm>
            <a:off x="8466423" y="4736592"/>
            <a:ext cx="558705" cy="292608"/>
          </a:xfrm>
          <a:prstGeom prst="roundRect">
            <a:avLst>
              <a:gd name="adj" fmla="val 15625"/>
            </a:avLst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2" name="NumSlide"/>
          <p:cNvSpPr/>
          <p:nvPr/>
        </p:nvSpPr>
        <p:spPr>
          <a:xfrm>
            <a:off x="8466423" y="4736592"/>
            <a:ext cx="5587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dirty="0"/>
              <a:t>10 / 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F36D6-20E7-01E9-ACE7-F227AA119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eBleu">
            <a:extLst>
              <a:ext uri="{FF2B5EF4-FFF2-40B4-BE49-F238E27FC236}">
                <a16:creationId xmlns:a16="http://schemas.microsoft.com/office/drawing/2014/main" id="{28E12D49-AB73-034B-B160-0C3E2100ACAC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BarreOrange">
            <a:extLst>
              <a:ext uri="{FF2B5EF4-FFF2-40B4-BE49-F238E27FC236}">
                <a16:creationId xmlns:a16="http://schemas.microsoft.com/office/drawing/2014/main" id="{5AC75593-0E13-FF9A-80CB-3EF271854172}"/>
              </a:ext>
            </a:extLst>
          </p:cNvPr>
          <p:cNvSpPr/>
          <p:nvPr/>
        </p:nvSpPr>
        <p:spPr>
          <a:xfrm>
            <a:off x="0" y="73152"/>
            <a:ext cx="3840480" cy="4572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" name="Titre">
            <a:extLst>
              <a:ext uri="{FF2B5EF4-FFF2-40B4-BE49-F238E27FC236}">
                <a16:creationId xmlns:a16="http://schemas.microsoft.com/office/drawing/2014/main" id="{769EA01D-2BEA-088C-B26A-10DDE334A4CF}"/>
              </a:ext>
            </a:extLst>
          </p:cNvPr>
          <p:cNvSpPr/>
          <p:nvPr/>
        </p:nvSpPr>
        <p:spPr>
          <a:xfrm>
            <a:off x="516175" y="900301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BE" sz="2800" dirty="0"/>
              <a:t>Merci de nous avoir écouté !</a:t>
            </a:r>
            <a:endParaRPr sz="2800" dirty="0"/>
          </a:p>
        </p:txBody>
      </p:sp>
      <p:sp>
        <p:nvSpPr>
          <p:cNvPr id="13" name="Titre">
            <a:extLst>
              <a:ext uri="{FF2B5EF4-FFF2-40B4-BE49-F238E27FC236}">
                <a16:creationId xmlns:a16="http://schemas.microsoft.com/office/drawing/2014/main" id="{A646350C-B4A5-FD94-BA87-333C815C5988}"/>
              </a:ext>
            </a:extLst>
          </p:cNvPr>
          <p:cNvSpPr/>
          <p:nvPr/>
        </p:nvSpPr>
        <p:spPr>
          <a:xfrm>
            <a:off x="516175" y="230352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BE" sz="2800" dirty="0"/>
              <a:t>Avez-vous des questions ?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2139833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0CF2DB4-FC45-088C-9CC6-76A1AB114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eBleu">
            <a:extLst>
              <a:ext uri="{FF2B5EF4-FFF2-40B4-BE49-F238E27FC236}">
                <a16:creationId xmlns:a16="http://schemas.microsoft.com/office/drawing/2014/main" id="{C68942ED-0637-D700-9662-EBE54581E1CF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BarreOrange">
            <a:extLst>
              <a:ext uri="{FF2B5EF4-FFF2-40B4-BE49-F238E27FC236}">
                <a16:creationId xmlns:a16="http://schemas.microsoft.com/office/drawing/2014/main" id="{E43640A8-C017-F1CF-288A-4F65EDE15D56}"/>
              </a:ext>
            </a:extLst>
          </p:cNvPr>
          <p:cNvSpPr/>
          <p:nvPr/>
        </p:nvSpPr>
        <p:spPr>
          <a:xfrm>
            <a:off x="0" y="73152"/>
            <a:ext cx="3840480" cy="4572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" name="Titre">
            <a:extLst>
              <a:ext uri="{FF2B5EF4-FFF2-40B4-BE49-F238E27FC236}">
                <a16:creationId xmlns:a16="http://schemas.microsoft.com/office/drawing/2014/main" id="{60CBFA6E-F483-F8FB-EDBE-93822F12BEF6}"/>
              </a:ext>
            </a:extLst>
          </p:cNvPr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BE" dirty="0"/>
              <a:t>Schéma de séquence - Connexion</a:t>
            </a:r>
            <a:endParaRPr dirty="0"/>
          </a:p>
        </p:txBody>
      </p:sp>
      <p:sp>
        <p:nvSpPr>
          <p:cNvPr id="11" name="BadgeNum">
            <a:extLst>
              <a:ext uri="{FF2B5EF4-FFF2-40B4-BE49-F238E27FC236}">
                <a16:creationId xmlns:a16="http://schemas.microsoft.com/office/drawing/2014/main" id="{2F3FF39A-3A71-0C62-401B-821CFE56F228}"/>
              </a:ext>
            </a:extLst>
          </p:cNvPr>
          <p:cNvSpPr/>
          <p:nvPr/>
        </p:nvSpPr>
        <p:spPr>
          <a:xfrm>
            <a:off x="8466423" y="4736592"/>
            <a:ext cx="558705" cy="292608"/>
          </a:xfrm>
          <a:prstGeom prst="roundRect">
            <a:avLst>
              <a:gd name="adj" fmla="val 15625"/>
            </a:avLst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2" name="NumSlide">
            <a:extLst>
              <a:ext uri="{FF2B5EF4-FFF2-40B4-BE49-F238E27FC236}">
                <a16:creationId xmlns:a16="http://schemas.microsoft.com/office/drawing/2014/main" id="{1625B62D-405A-FCF5-A627-035519A1CB22}"/>
              </a:ext>
            </a:extLst>
          </p:cNvPr>
          <p:cNvSpPr/>
          <p:nvPr/>
        </p:nvSpPr>
        <p:spPr>
          <a:xfrm>
            <a:off x="8466423" y="4736592"/>
            <a:ext cx="5587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BE" sz="1400" dirty="0"/>
              <a:t>+1</a:t>
            </a:r>
            <a:endParaRPr sz="1400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0706DDCA-2F5F-07BB-2EB1-5E50ED793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701" y="718580"/>
            <a:ext cx="5437135" cy="4424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142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C8B31ED-0098-F510-03B1-5F1072382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eBleu">
            <a:extLst>
              <a:ext uri="{FF2B5EF4-FFF2-40B4-BE49-F238E27FC236}">
                <a16:creationId xmlns:a16="http://schemas.microsoft.com/office/drawing/2014/main" id="{CB47192E-4FD2-7FF8-F5D4-146FA4A9589E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BarreOrange">
            <a:extLst>
              <a:ext uri="{FF2B5EF4-FFF2-40B4-BE49-F238E27FC236}">
                <a16:creationId xmlns:a16="http://schemas.microsoft.com/office/drawing/2014/main" id="{B26852AD-FF4F-C91E-1545-34E4ACF73140}"/>
              </a:ext>
            </a:extLst>
          </p:cNvPr>
          <p:cNvSpPr/>
          <p:nvPr/>
        </p:nvSpPr>
        <p:spPr>
          <a:xfrm>
            <a:off x="0" y="73152"/>
            <a:ext cx="3840480" cy="4572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" name="Titre">
            <a:extLst>
              <a:ext uri="{FF2B5EF4-FFF2-40B4-BE49-F238E27FC236}">
                <a16:creationId xmlns:a16="http://schemas.microsoft.com/office/drawing/2014/main" id="{CC76A8EF-C3D7-B38F-998E-563450629B1F}"/>
              </a:ext>
            </a:extLst>
          </p:cNvPr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BE" dirty="0"/>
              <a:t>Schéma de séquence - déconnexion</a:t>
            </a:r>
            <a:endParaRPr dirty="0"/>
          </a:p>
        </p:txBody>
      </p:sp>
      <p:sp>
        <p:nvSpPr>
          <p:cNvPr id="11" name="BadgeNum">
            <a:extLst>
              <a:ext uri="{FF2B5EF4-FFF2-40B4-BE49-F238E27FC236}">
                <a16:creationId xmlns:a16="http://schemas.microsoft.com/office/drawing/2014/main" id="{BC29B89F-1917-E568-E96D-9AB685DD73BE}"/>
              </a:ext>
            </a:extLst>
          </p:cNvPr>
          <p:cNvSpPr/>
          <p:nvPr/>
        </p:nvSpPr>
        <p:spPr>
          <a:xfrm>
            <a:off x="8466423" y="4736592"/>
            <a:ext cx="558705" cy="292608"/>
          </a:xfrm>
          <a:prstGeom prst="roundRect">
            <a:avLst>
              <a:gd name="adj" fmla="val 15625"/>
            </a:avLst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2" name="NumSlide">
            <a:extLst>
              <a:ext uri="{FF2B5EF4-FFF2-40B4-BE49-F238E27FC236}">
                <a16:creationId xmlns:a16="http://schemas.microsoft.com/office/drawing/2014/main" id="{F1E0C79B-92A5-CBBC-B0D0-8358D8C7C226}"/>
              </a:ext>
            </a:extLst>
          </p:cNvPr>
          <p:cNvSpPr/>
          <p:nvPr/>
        </p:nvSpPr>
        <p:spPr>
          <a:xfrm>
            <a:off x="8466423" y="4736592"/>
            <a:ext cx="5587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BE" sz="1400" dirty="0"/>
              <a:t>+2</a:t>
            </a:r>
            <a:endParaRPr sz="1400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0E7162F0-7FE8-8A34-E2CE-FF3C6CBB3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153" y="737770"/>
            <a:ext cx="6533693" cy="429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1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39B8493-B7D1-A560-E55D-8EED68432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eBleu">
            <a:extLst>
              <a:ext uri="{FF2B5EF4-FFF2-40B4-BE49-F238E27FC236}">
                <a16:creationId xmlns:a16="http://schemas.microsoft.com/office/drawing/2014/main" id="{B2B32B42-F02C-E711-FE26-BD5A01DB5C63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BarreOrange">
            <a:extLst>
              <a:ext uri="{FF2B5EF4-FFF2-40B4-BE49-F238E27FC236}">
                <a16:creationId xmlns:a16="http://schemas.microsoft.com/office/drawing/2014/main" id="{273C99AA-5A08-8DDF-622B-72191C8D3CD9}"/>
              </a:ext>
            </a:extLst>
          </p:cNvPr>
          <p:cNvSpPr/>
          <p:nvPr/>
        </p:nvSpPr>
        <p:spPr>
          <a:xfrm>
            <a:off x="0" y="73152"/>
            <a:ext cx="3840480" cy="45720"/>
          </a:xfrm>
          <a:prstGeom prst="rect">
            <a:avLst/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" name="Titre">
            <a:extLst>
              <a:ext uri="{FF2B5EF4-FFF2-40B4-BE49-F238E27FC236}">
                <a16:creationId xmlns:a16="http://schemas.microsoft.com/office/drawing/2014/main" id="{3E214249-7E71-190C-D232-4A7024D8037C}"/>
              </a:ext>
            </a:extLst>
          </p:cNvPr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BE" dirty="0"/>
              <a:t>Use Case</a:t>
            </a:r>
            <a:endParaRPr dirty="0"/>
          </a:p>
        </p:txBody>
      </p:sp>
      <p:sp>
        <p:nvSpPr>
          <p:cNvPr id="11" name="BadgeNum">
            <a:extLst>
              <a:ext uri="{FF2B5EF4-FFF2-40B4-BE49-F238E27FC236}">
                <a16:creationId xmlns:a16="http://schemas.microsoft.com/office/drawing/2014/main" id="{6FB8D81D-71DE-E020-61DD-EF070733526B}"/>
              </a:ext>
            </a:extLst>
          </p:cNvPr>
          <p:cNvSpPr/>
          <p:nvPr/>
        </p:nvSpPr>
        <p:spPr>
          <a:xfrm>
            <a:off x="8466423" y="4736592"/>
            <a:ext cx="558705" cy="292608"/>
          </a:xfrm>
          <a:prstGeom prst="roundRect">
            <a:avLst>
              <a:gd name="adj" fmla="val 15625"/>
            </a:avLst>
          </a:prstGeom>
          <a:solidFill>
            <a:srgbClr val="D4880A"/>
          </a:solidFill>
          <a:ln w="12700">
            <a:solidFill>
              <a:srgbClr val="D4880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2" name="NumSlide">
            <a:extLst>
              <a:ext uri="{FF2B5EF4-FFF2-40B4-BE49-F238E27FC236}">
                <a16:creationId xmlns:a16="http://schemas.microsoft.com/office/drawing/2014/main" id="{648D8BC3-8330-4340-5AB6-4660F5A56B23}"/>
              </a:ext>
            </a:extLst>
          </p:cNvPr>
          <p:cNvSpPr/>
          <p:nvPr/>
        </p:nvSpPr>
        <p:spPr>
          <a:xfrm>
            <a:off x="8466423" y="4736592"/>
            <a:ext cx="5587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BE" sz="1400" dirty="0"/>
              <a:t>+3</a:t>
            </a:r>
            <a:endParaRPr sz="1400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8459402C-7782-6ED4-6992-3D0897E4F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734" y="712566"/>
            <a:ext cx="7070838" cy="443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251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510</Words>
  <Application>Microsoft Office PowerPoint</Application>
  <PresentationFormat>Affichage à l'écran (16:9)</PresentationFormat>
  <Paragraphs>125</Paragraphs>
  <Slides>17</Slides>
  <Notes>0</Notes>
  <HiddenSlides>3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Monis Lucas</cp:lastModifiedBy>
  <cp:revision>2</cp:revision>
  <dcterms:created xsi:type="dcterms:W3CDTF">2013-01-27T09:14:16Z</dcterms:created>
  <dcterms:modified xsi:type="dcterms:W3CDTF">2026-06-17T10:19:25Z</dcterms:modified>
  <cp:category/>
</cp:coreProperties>
</file>