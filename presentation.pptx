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Haut"/>
          <p:cNvSpPr/>
          <p:nvPr/>
        </p:nvSpPr>
        <p:spPr>
          <a:xfrm>
            <a:off x="6675120" y="-1188720"/>
            <a:ext cx="3657600" cy="3657600"/>
          </a:xfrm>
          <a:prstGeom prst="ellipse">
            <a:avLst/>
          </a:prstGeom>
          <a:solidFill>
            <a:srgbClr val="1E5276">
              <a:alpha val="35000"/>
            </a:srgbClr>
          </a:solidFill>
          <a:ln w="12700">
            <a:solidFill>
              <a:srgbClr val="1E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CercleBas"/>
          <p:cNvSpPr/>
          <p:nvPr/>
        </p:nvSpPr>
        <p:spPr>
          <a:xfrm>
            <a:off x="7498080" y="3108960"/>
            <a:ext cx="2560320" cy="2560320"/>
          </a:xfrm>
          <a:prstGeom prst="ellipse">
            <a:avLst/>
          </a:prstGeom>
          <a:solidFill>
            <a:srgbClr val="1E5276">
              <a:alpha val="30000"/>
            </a:srgbClr>
          </a:solidFill>
          <a:ln w="12700">
            <a:solidFill>
              <a:srgbClr val="1E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BadgeFond"/>
          <p:cNvSpPr/>
          <p:nvPr/>
        </p:nvSpPr>
        <p:spPr>
          <a:xfrm>
            <a:off x="3331639" y="1069848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BadgeTexte"/>
          <p:cNvSpPr/>
          <p:nvPr/>
        </p:nvSpPr>
        <p:spPr>
          <a:xfrm>
            <a:off x="3331639" y="10881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RÉSEAUX  |  2025-2026</a:t>
            </a:r>
          </a:p>
        </p:txBody>
      </p:sp>
      <p:sp>
        <p:nvSpPr>
          <p:cNvPr id="7" name="SousTitre"/>
          <p:cNvSpPr/>
          <p:nvPr/>
        </p:nvSpPr>
        <p:spPr>
          <a:xfrm>
            <a:off x="457200" y="1500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Projet — Identité fédérée en Haute École</a:t>
            </a:r>
          </a:p>
        </p:txBody>
      </p:sp>
      <p:sp>
        <p:nvSpPr>
          <p:cNvPr id="8" name="TitrePrincipal"/>
          <p:cNvSpPr/>
          <p:nvPr/>
        </p:nvSpPr>
        <p:spPr>
          <a:xfrm>
            <a:off x="457200" y="2050000"/>
            <a:ext cx="7772400" cy="1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Mastodon + Keycloak + OpenLDAP</a:t>
            </a:r>
          </a:p>
        </p:txBody>
      </p:sp>
      <p:sp>
        <p:nvSpPr>
          <p:cNvPr id="10" name="Auteurs"/>
          <p:cNvSpPr/>
          <p:nvPr/>
        </p:nvSpPr>
        <p:spPr>
          <a:xfrm>
            <a:off x="457200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Peteurson Théophile  ·  Dujardin Xavier  ·  Monis Lucas</a:t>
            </a:r>
          </a:p>
        </p:txBody>
      </p:sp>
      <p:sp>
        <p:nvSpPr>
          <p:cNvPr id="13" name="InfoBas"/>
          <p:cNvSpPr/>
          <p:nvPr/>
        </p:nvSpPr>
        <p:spPr>
          <a:xfrm>
            <a:off x="54864" y="3639312"/>
            <a:ext cx="9034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Prof. Van Goethem Philippe  |  Réseaux  |  Juin 2026</a:t>
            </a:r>
          </a:p>
        </p:txBody>
      </p:sp>
      <p:sp>
        <p:nvSpPr>
          <p:cNvPr id="11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Sommaire</a:t>
            </a:r>
          </a:p>
        </p:txBody>
      </p:sp>
      <p:sp>
        <p:nvSpPr>
          <p:cNvPr id="5" name="LigneTimeline"/>
          <p:cNvSpPr/>
          <p:nvPr/>
        </p:nvSpPr>
        <p:spPr>
          <a:xfrm>
            <a:off x="457200" y="2286000"/>
            <a:ext cx="82296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E1Cercle"/>
          <p:cNvSpPr/>
          <p:nvPr/>
        </p:nvSpPr>
        <p:spPr>
          <a:xfrm>
            <a:off x="600000" y="210312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E1Num"/>
          <p:cNvSpPr/>
          <p:nvPr/>
        </p:nvSpPr>
        <p:spPr>
          <a:xfrm>
            <a:off x="6000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E1Titre"/>
          <p:cNvSpPr/>
          <p:nvPr/>
        </p:nvSpPr>
        <p:spPr>
          <a:xfrm>
            <a:off x="45720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t>Pourquoi
ce sujet ?</a:t>
            </a:r>
          </a:p>
        </p:txBody>
      </p:sp>
      <p:sp>
        <p:nvSpPr>
          <p:cNvPr id="9" name="E1Desc"/>
          <p:cNvSpPr/>
          <p:nvPr/>
        </p:nvSpPr>
        <p:spPr>
          <a:xfrm>
            <a:off x="45720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Contexte Henallux
Besoins &amp; motivations</a:t>
            </a:r>
          </a:p>
        </p:txBody>
      </p:sp>
      <p:sp>
        <p:nvSpPr>
          <p:cNvPr id="10" name="E2Cercle"/>
          <p:cNvSpPr/>
          <p:nvPr/>
        </p:nvSpPr>
        <p:spPr>
          <a:xfrm>
            <a:off x="2651760" y="210312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E2Num"/>
          <p:cNvSpPr/>
          <p:nvPr/>
        </p:nvSpPr>
        <p:spPr>
          <a:xfrm>
            <a:off x="26517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E2Titre"/>
          <p:cNvSpPr/>
          <p:nvPr/>
        </p:nvSpPr>
        <p:spPr>
          <a:xfrm>
            <a:off x="250896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t>Architecture
technique</a:t>
            </a:r>
          </a:p>
        </p:txBody>
      </p:sp>
      <p:sp>
        <p:nvSpPr>
          <p:cNvPr id="13" name="E2Desc"/>
          <p:cNvSpPr/>
          <p:nvPr/>
        </p:nvSpPr>
        <p:spPr>
          <a:xfrm>
            <a:off x="250896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OpenLDAP · Keycloak
Mastodon · Nginx</a:t>
            </a:r>
          </a:p>
        </p:txBody>
      </p:sp>
      <p:sp>
        <p:nvSpPr>
          <p:cNvPr id="14" name="E3Cercle"/>
          <p:cNvSpPr/>
          <p:nvPr/>
        </p:nvSpPr>
        <p:spPr>
          <a:xfrm>
            <a:off x="4703520" y="2103120"/>
            <a:ext cx="411480" cy="411480"/>
          </a:xfrm>
          <a:prstGeom prst="ellipse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5" name="E3Num"/>
          <p:cNvSpPr/>
          <p:nvPr/>
        </p:nvSpPr>
        <p:spPr>
          <a:xfrm>
            <a:off x="47035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E3Titre"/>
          <p:cNvSpPr/>
          <p:nvPr/>
        </p:nvSpPr>
        <p:spPr>
          <a:xfrm>
            <a:off x="456072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t>Mesures de
sécurité</a:t>
            </a:r>
          </a:p>
        </p:txBody>
      </p:sp>
      <p:sp>
        <p:nvSpPr>
          <p:cNvPr id="17" name="E3Desc"/>
          <p:cNvSpPr/>
          <p:nvPr/>
        </p:nvSpPr>
        <p:spPr>
          <a:xfrm>
            <a:off x="456072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SSO · TLS · Rôles
Single Logout</a:t>
            </a:r>
          </a:p>
        </p:txBody>
      </p:sp>
      <p:sp>
        <p:nvSpPr>
          <p:cNvPr id="18" name="E4Cercle"/>
          <p:cNvSpPr/>
          <p:nvPr/>
        </p:nvSpPr>
        <p:spPr>
          <a:xfrm>
            <a:off x="6755280" y="2103120"/>
            <a:ext cx="411480" cy="411480"/>
          </a:xfrm>
          <a:prstGeom prst="ellipse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E4Num"/>
          <p:cNvSpPr/>
          <p:nvPr/>
        </p:nvSpPr>
        <p:spPr>
          <a:xfrm>
            <a:off x="67552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E4Titre"/>
          <p:cNvSpPr/>
          <p:nvPr/>
        </p:nvSpPr>
        <p:spPr>
          <a:xfrm>
            <a:off x="661248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t>Démo &amp;
Conclusion</a:t>
            </a:r>
          </a:p>
        </p:txBody>
      </p:sp>
      <p:sp>
        <p:nvSpPr>
          <p:cNvPr id="21" name="E4Desc"/>
          <p:cNvSpPr/>
          <p:nvPr/>
        </p:nvSpPr>
        <p:spPr>
          <a:xfrm>
            <a:off x="661248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Scénario live
Bonne idée ?</a:t>
            </a:r>
          </a:p>
        </p:txBody>
      </p:sp>
      <p:sp>
        <p:nvSpPr>
          <p:cNvPr id="22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3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G"/>
          <p:cNvSpPr/>
          <p:nvPr/>
        </p:nvSpPr>
        <p:spPr>
          <a:xfrm>
            <a:off x="-1097280" y="-731520"/>
            <a:ext cx="5029200" cy="5029200"/>
          </a:xfrm>
          <a:prstGeom prst="ellipse">
            <a:avLst/>
          </a:prstGeom>
          <a:solidFill>
            <a:srgbClr val="1E5276">
              <a:alpha val="45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D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1E5276">
              <a:alpha val="40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NumSection"/>
          <p:cNvSpPr/>
          <p:nvPr/>
        </p:nvSpPr>
        <p:spPr>
          <a:xfrm>
            <a:off x="457200" y="128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Partie 1</a:t>
            </a:r>
          </a:p>
        </p:txBody>
      </p:sp>
      <p:sp>
        <p:nvSpPr>
          <p:cNvPr id="6" name="TitreSection"/>
          <p:cNvSpPr/>
          <p:nvPr/>
        </p:nvSpPr>
        <p:spPr>
          <a:xfrm>
            <a:off x="457200" y="178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Pourquoi avoir choisi ce sujet ?</a:t>
            </a:r>
          </a:p>
        </p:txBody>
      </p:sp>
      <p:sp>
        <p:nvSpPr>
          <p:cNvPr id="7" name="SousTitreSection"/>
          <p:cNvSpPr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Contexte, besoins et motivations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Hau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Accent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Slid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Pourquoi ce sujet ?  |  Contexte Henallux</a:t>
            </a:r>
          </a:p>
        </p:txBody>
      </p:sp>
      <p:sp>
        <p:nvSpPr>
          <p:cNvPr id="5" name="ListeGauche"/>
          <p:cNvSpPr/>
          <p:nvPr/>
        </p:nvSpPr>
        <p:spPr>
          <a:xfrm>
            <a:off x="457200" y="96012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/>
              <a:t>Contexte</a:t>
            </a:r>
          </a:p>
          <a:p>
            <a:r>
              <a:rPr sz="1000" b="0"/>
              <a:t/>
            </a:r>
          </a:p>
          <a:p>
            <a:r>
              <a:rPr sz="1100" b="0"/>
              <a:t>1. Le tutorat se déroule en présentiel, avec suivi</a:t>
            </a:r>
          </a:p>
          <a:p>
            <a:r>
              <a:rPr sz="1100" b="0"/>
              <a:t>   possible via Teams ou Discord.</a:t>
            </a:r>
          </a:p>
          <a:p>
            <a:r>
              <a:rPr sz="900" b="0"/>
              <a:t/>
            </a:r>
          </a:p>
          <a:p>
            <a:r>
              <a:rPr sz="1100" b="0"/>
              <a:t>2. Ces outils sont des plateformes propriétaires</a:t>
            </a:r>
          </a:p>
          <a:p>
            <a:r>
              <a:rPr sz="1100" b="0"/>
              <a:t>   hébergées hors de l'institution.</a:t>
            </a:r>
          </a:p>
          <a:p>
            <a:r>
              <a:rPr sz="900" b="0"/>
              <a:t/>
            </a:r>
          </a:p>
          <a:p>
            <a:r>
              <a:rPr sz="1100" b="0"/>
              <a:t>3. Mastodon est open source, auto-hébergeable</a:t>
            </a:r>
          </a:p>
          <a:p>
            <a:r>
              <a:rPr sz="1100" b="0"/>
              <a:t>   et décentralisé — données sur nos serveurs.</a:t>
            </a:r>
          </a:p>
          <a:p>
            <a:r>
              <a:rPr sz="900" b="0"/>
              <a:t/>
            </a:r>
          </a:p>
          <a:p>
            <a:r>
              <a:rPr sz="1100" b="0"/>
              <a:t>4. Un serveur Mastodon interne simplifierait</a:t>
            </a:r>
          </a:p>
          <a:p>
            <a:r>
              <a:rPr sz="1100" b="0"/>
              <a:t>   les échanges tuteurs ↔ étudiants.</a:t>
            </a:r>
          </a:p>
        </p:txBody>
      </p:sp>
      <p:sp>
        <p:nvSpPr>
          <p:cNvPr id="6" name="RecapDroite"/>
          <p:cNvSpPr/>
          <p:nvPr/>
        </p:nvSpPr>
        <p:spPr>
          <a:xfrm>
            <a:off x="5029200" y="960120"/>
            <a:ext cx="36576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RecapBarre"/>
          <p:cNvSpPr/>
          <p:nvPr/>
        </p:nvSpPr>
        <p:spPr>
          <a:xfrm>
            <a:off x="5029200" y="960120"/>
            <a:ext cx="3657600" cy="54864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apContenu"/>
          <p:cNvSpPr/>
          <p:nvPr/>
        </p:nvSpPr>
        <p:spPr>
          <a:xfrm>
            <a:off x="5166360" y="109728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/>
              <a:t>Avantages clés</a:t>
            </a:r>
          </a:p>
          <a:p>
            <a:r>
              <a:rPr sz="900" b="0"/>
              <a:t/>
            </a:r>
          </a:p>
          <a:p>
            <a:r>
              <a:rPr sz="1100" b="1"/>
              <a:t>Souveraineté :</a:t>
            </a:r>
          </a:p>
          <a:p>
            <a:r>
              <a:rPr sz="1100" b="0"/>
              <a:t>Données hébergées en interne</a:t>
            </a:r>
          </a:p>
          <a:p>
            <a:r>
              <a:rPr sz="800" b="0"/>
              <a:t/>
            </a:r>
          </a:p>
          <a:p>
            <a:r>
              <a:rPr sz="1100" b="1"/>
              <a:t>Contrôle :</a:t>
            </a:r>
          </a:p>
          <a:p>
            <a:r>
              <a:rPr sz="1100" b="0"/>
              <a:t>Rôles gérés via annuaire LDAP existant</a:t>
            </a:r>
          </a:p>
          <a:p>
            <a:r>
              <a:rPr sz="800" b="0"/>
              <a:t/>
            </a:r>
          </a:p>
          <a:p>
            <a:r>
              <a:rPr sz="1100" b="1"/>
              <a:t>Coût :</a:t>
            </a:r>
          </a:p>
          <a:p>
            <a:r>
              <a:rPr sz="1100" b="0"/>
              <a:t>100 % open source, sans licence</a:t>
            </a:r>
          </a:p>
        </p:txBody>
      </p:sp>
      <p:sp>
        <p:nvSpPr>
          <p:cNvPr id="9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G"/>
          <p:cNvSpPr/>
          <p:nvPr/>
        </p:nvSpPr>
        <p:spPr>
          <a:xfrm>
            <a:off x="-1097280" y="-731520"/>
            <a:ext cx="5029200" cy="5029200"/>
          </a:xfrm>
          <a:prstGeom prst="ellipse">
            <a:avLst/>
          </a:prstGeom>
          <a:solidFill>
            <a:srgbClr val="1E5276">
              <a:alpha val="45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D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1E5276">
              <a:alpha val="40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NumSection"/>
          <p:cNvSpPr/>
          <p:nvPr/>
        </p:nvSpPr>
        <p:spPr>
          <a:xfrm>
            <a:off x="457200" y="128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Partie 2</a:t>
            </a:r>
          </a:p>
        </p:txBody>
      </p:sp>
      <p:sp>
        <p:nvSpPr>
          <p:cNvPr id="6" name="TitreSection"/>
          <p:cNvSpPr/>
          <p:nvPr/>
        </p:nvSpPr>
        <p:spPr>
          <a:xfrm>
            <a:off x="457200" y="178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Architecture technique</a:t>
            </a:r>
          </a:p>
        </p:txBody>
      </p:sp>
      <p:sp>
        <p:nvSpPr>
          <p:cNvPr id="7" name="SousTitreSection"/>
          <p:cNvSpPr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OpenLDAP · Keycloak · Mastodon · Nginx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Hau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Accent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Slid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Les 3 briques du projet</a:t>
            </a:r>
          </a:p>
        </p:txBody>
      </p:sp>
      <p:sp>
        <p:nvSpPr>
          <p:cNvPr id="5" name="Carte1Fond"/>
          <p:cNvSpPr/>
          <p:nvPr/>
        </p:nvSpPr>
        <p:spPr>
          <a:xfrm>
            <a:off x="32004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Carte1Barre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Carte1Cercle"/>
          <p:cNvSpPr/>
          <p:nvPr/>
        </p:nvSpPr>
        <p:spPr>
          <a:xfrm>
            <a:off x="457200" y="107899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arte1Num"/>
          <p:cNvSpPr/>
          <p:nvPr/>
        </p:nvSpPr>
        <p:spPr>
          <a:xfrm>
            <a:off x="45720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1</a:t>
            </a:r>
          </a:p>
        </p:txBody>
      </p:sp>
      <p:sp>
        <p:nvSpPr>
          <p:cNvPr id="9" name="Carte1Titre"/>
          <p:cNvSpPr/>
          <p:nvPr/>
        </p:nvSpPr>
        <p:spPr>
          <a:xfrm>
            <a:off x="88696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OpenLDAP</a:t>
            </a:r>
          </a:p>
        </p:txBody>
      </p:sp>
      <p:sp>
        <p:nvSpPr>
          <p:cNvPr id="10" name="Carte1Corps"/>
          <p:cNvSpPr/>
          <p:nvPr/>
        </p:nvSpPr>
        <p:spPr>
          <a:xfrm>
            <a:off x="45720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Annuaire centralisé.
Groupes : teacher, tutor, student.
Source de vérité unique pour les identités.</a:t>
            </a:r>
          </a:p>
        </p:txBody>
      </p:sp>
      <p:sp>
        <p:nvSpPr>
          <p:cNvPr id="11" name="Carte2Fond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Carte2Barre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Carte2Cercle"/>
          <p:cNvSpPr/>
          <p:nvPr/>
        </p:nvSpPr>
        <p:spPr>
          <a:xfrm>
            <a:off x="3383280" y="107899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Carte2Num"/>
          <p:cNvSpPr/>
          <p:nvPr/>
        </p:nvSpPr>
        <p:spPr>
          <a:xfrm>
            <a:off x="338328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2</a:t>
            </a:r>
          </a:p>
        </p:txBody>
      </p:sp>
      <p:sp>
        <p:nvSpPr>
          <p:cNvPr id="15" name="Carte2Titre"/>
          <p:cNvSpPr/>
          <p:nvPr/>
        </p:nvSpPr>
        <p:spPr>
          <a:xfrm>
            <a:off x="381304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Keycloak</a:t>
            </a:r>
          </a:p>
        </p:txBody>
      </p:sp>
      <p:sp>
        <p:nvSpPr>
          <p:cNvPr id="16" name="Carte2Corps"/>
          <p:cNvSpPr/>
          <p:nvPr/>
        </p:nvSpPr>
        <p:spPr>
          <a:xfrm>
            <a:off x="338328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Fédération d'identité (OIDC).
Importe les utilisateurs depuis LDAP.
Émet les tokens JWT avec les rôles.</a:t>
            </a:r>
          </a:p>
        </p:txBody>
      </p:sp>
      <p:sp>
        <p:nvSpPr>
          <p:cNvPr id="17" name="Carte3Fond"/>
          <p:cNvSpPr/>
          <p:nvPr/>
        </p:nvSpPr>
        <p:spPr>
          <a:xfrm>
            <a:off x="617220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Carte3Barre"/>
          <p:cNvSpPr/>
          <p:nvPr/>
        </p:nvSpPr>
        <p:spPr>
          <a:xfrm>
            <a:off x="617220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Carte3Cercle"/>
          <p:cNvSpPr/>
          <p:nvPr/>
        </p:nvSpPr>
        <p:spPr>
          <a:xfrm>
            <a:off x="6309360" y="107899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arte3Num"/>
          <p:cNvSpPr/>
          <p:nvPr/>
        </p:nvSpPr>
        <p:spPr>
          <a:xfrm>
            <a:off x="630936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3</a:t>
            </a:r>
          </a:p>
        </p:txBody>
      </p:sp>
      <p:sp>
        <p:nvSpPr>
          <p:cNvPr id="21" name="Carte3Titre"/>
          <p:cNvSpPr/>
          <p:nvPr/>
        </p:nvSpPr>
        <p:spPr>
          <a:xfrm>
            <a:off x="673912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Mastodon</a:t>
            </a:r>
          </a:p>
        </p:txBody>
      </p:sp>
      <p:sp>
        <p:nvSpPr>
          <p:cNvPr id="22" name="Carte3Corps"/>
          <p:cNvSpPr/>
          <p:nvPr/>
        </p:nvSpPr>
        <p:spPr>
          <a:xfrm>
            <a:off x="630936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Réseau social auto-hébergé.
Authentification SSO via Keycloak.
Rôle attribué automatiquement à la connexion.</a:t>
            </a:r>
          </a:p>
        </p:txBody>
      </p:sp>
      <p:sp>
        <p:nvSpPr>
          <p:cNvPr id="23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G"/>
          <p:cNvSpPr/>
          <p:nvPr/>
        </p:nvSpPr>
        <p:spPr>
          <a:xfrm>
            <a:off x="-1097280" y="-731520"/>
            <a:ext cx="5029200" cy="5029200"/>
          </a:xfrm>
          <a:prstGeom prst="ellipse">
            <a:avLst/>
          </a:prstGeom>
          <a:solidFill>
            <a:srgbClr val="1E5276">
              <a:alpha val="45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CercleD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1E5276">
              <a:alpha val="40000"/>
            </a:srgbClr>
          </a:solidFill>
          <a:ln w="12700">
            <a:solidFill>
              <a:srgbClr val="1E527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NumSection"/>
          <p:cNvSpPr/>
          <p:nvPr/>
        </p:nvSpPr>
        <p:spPr>
          <a:xfrm>
            <a:off x="457200" y="128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Partie 3</a:t>
            </a:r>
          </a:p>
        </p:txBody>
      </p:sp>
      <p:sp>
        <p:nvSpPr>
          <p:cNvPr id="6" name="TitreSection"/>
          <p:cNvSpPr/>
          <p:nvPr/>
        </p:nvSpPr>
        <p:spPr>
          <a:xfrm>
            <a:off x="457200" y="178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Mesures de sécurité</a:t>
            </a:r>
          </a:p>
        </p:txBody>
      </p:sp>
      <p:sp>
        <p:nvSpPr>
          <p:cNvPr id="7" name="SousTitreSection"/>
          <p:cNvSpPr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Isolation réseau · TLS · SSO · Single Logout · Mapping des rôles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Mesures de sécurité  |  Architecture &amp; Rôles</a:t>
            </a:r>
          </a:p>
        </p:txBody>
      </p:sp>
      <p:sp>
        <p:nvSpPr>
          <p:cNvPr id="5" name="BlocFond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BlocBarre"/>
          <p:cNvSpPr/>
          <p:nvPr/>
        </p:nvSpPr>
        <p:spPr>
          <a:xfrm>
            <a:off x="320040" y="960120"/>
            <a:ext cx="41148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ContenuTexte"/>
          <p:cNvSpPr/>
          <p:nvPr/>
        </p:nvSpPr>
        <p:spPr>
          <a:xfrm>
            <a:off x="54864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200" b="1"/>
              <a:t>Isolation réseau</a:t>
            </a:r>
          </a:p>
          <a:p>
            <a:r>
              <a:rPr sz="1100" b="0"/>
              <a:t>Subnet Docker 172.33.0.0/16 dédié</a:t>
            </a:r>
          </a:p>
          <a:p>
            <a:r>
              <a:rPr sz="1100" b="0"/>
              <a:t>Nginx seul exposé (port 8443, TLS)</a:t>
            </a:r>
          </a:p>
          <a:p>
            <a:r>
              <a:rPr sz="900" b="0"/>
              <a:t/>
            </a:r>
          </a:p>
          <a:p>
            <a:r>
              <a:rPr sz="1200" b="1"/>
              <a:t>Authentification</a:t>
            </a:r>
          </a:p>
          <a:p>
            <a:r>
              <a:rPr sz="1100" b="0"/>
              <a:t>SSO via Keycloak (OIDC/OAuth2)</a:t>
            </a:r>
          </a:p>
          <a:p>
            <a:r>
              <a:rPr sz="1100" b="0"/>
              <a:t>Pas de mot de passe stocké dans Mastodon</a:t>
            </a:r>
          </a:p>
          <a:p>
            <a:r>
              <a:rPr sz="900" b="0"/>
              <a:t/>
            </a:r>
          </a:p>
          <a:p>
            <a:r>
              <a:rPr sz="1200" b="1"/>
              <a:t>Autorisation</a:t>
            </a:r>
          </a:p>
          <a:p>
            <a:r>
              <a:rPr sz="1100" b="0"/>
              <a:t>teacher  →  Admin Mastodon</a:t>
            </a:r>
          </a:p>
          <a:p>
            <a:r>
              <a:rPr sz="1100" b="0"/>
              <a:t>tutor    →  Modérateur</a:t>
            </a:r>
          </a:p>
          <a:p>
            <a:r>
              <a:rPr sz="1100" b="0"/>
              <a:t>student  →  Utilisateur</a:t>
            </a:r>
          </a:p>
          <a:p>
            <a:r>
              <a:rPr sz="900" b="0"/>
              <a:t/>
            </a:r>
          </a:p>
          <a:p>
            <a:r>
              <a:rPr sz="1200" b="1"/>
              <a:t>Single Logout</a:t>
            </a:r>
          </a:p>
          <a:p>
            <a:r>
              <a:rPr sz="1100" b="0"/>
              <a:t>Déconnexion Mastodon invalide la session</a:t>
            </a:r>
          </a:p>
          <a:p>
            <a:r>
              <a:rPr sz="1100" b="0"/>
              <a:t>Keycloak via id_token_hint</a:t>
            </a:r>
          </a:p>
        </p:txBody>
      </p:sp>
      <p:sp>
        <p:nvSpPr>
          <p:cNvPr id="8" name="ZoneVisuelle"/>
          <p:cNvSpPr/>
          <p:nvPr/>
        </p:nvSpPr>
        <p:spPr>
          <a:xfrm>
            <a:off x="4754040" y="960120"/>
            <a:ext cx="4023360" cy="3566160"/>
          </a:xfrm>
          <a:prstGeom prst="rect">
            <a:avLst/>
          </a:prstGeom>
          <a:solidFill>
            <a:srgbClr val="F0F6FC"/>
          </a:solidFill>
          <a:ln w="25400">
            <a:solidFill>
              <a:srgbClr val="D0E4F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t>[ Schéma 05 — Mapping des rôles
LDAP → Keycloak → Mastodon ]</a:t>
            </a:r>
          </a:p>
        </p:txBody>
      </p:sp>
      <p:sp>
        <p:nvSpPr>
          <p:cNvPr id="9" name="Legende"/>
          <p:cNvSpPr/>
          <p:nvPr/>
        </p:nvSpPr>
        <p:spPr>
          <a:xfrm>
            <a:off x="4754040" y="4526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Figure 1 — Flux de mapping des rôles</a:t>
            </a:r>
          </a:p>
        </p:txBody>
      </p:sp>
      <p:sp>
        <p:nvSpPr>
          <p:cNvPr id="10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Démonstration  |  Scénario live</a:t>
            </a:r>
          </a:p>
        </p:txBody>
      </p:sp>
      <p:sp>
        <p:nvSpPr>
          <p:cNvPr id="5" name="ZoneLibre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 w="12700">
            <a:solidFill>
              <a:srgbClr val="D0E4F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00" b="1"/>
              <a:t>Scénario</a:t>
            </a:r>
          </a:p>
          <a:p>
            <a:r>
              <a:rPr sz="1000" b="0"/>
              <a:t/>
            </a:r>
          </a:p>
          <a:p>
            <a:r>
              <a:rPr sz="1200" b="0"/>
              <a:t>1.  Connexion avec alice (teacher)  →  badge Admin dans Mastodon</a:t>
            </a:r>
          </a:p>
          <a:p>
            <a:r>
              <a:rPr sz="900" b="0"/>
              <a:t/>
            </a:r>
          </a:p>
          <a:p>
            <a:r>
              <a:rPr sz="1200" b="0"/>
              <a:t>2.  Connexion avec bob (tutor)  →  badge Modérateur</a:t>
            </a:r>
          </a:p>
          <a:p>
            <a:r>
              <a:rPr sz="900" b="0"/>
              <a:t/>
            </a:r>
          </a:p>
          <a:p>
            <a:r>
              <a:rPr sz="1200" b="0"/>
              <a:t>3.  Création d'un utilisateur via create-user.py</a:t>
            </a:r>
          </a:p>
          <a:p>
            <a:r>
              <a:rPr sz="1100" b="0"/>
              <a:t>       python3 scripts/create-user.py</a:t>
            </a:r>
          </a:p>
          <a:p>
            <a:r>
              <a:rPr sz="900" b="0"/>
              <a:t/>
            </a:r>
          </a:p>
          <a:p>
            <a:r>
              <a:rPr sz="1200" b="0"/>
              <a:t>4.  Connexion du nouvel utilisateur  →  rôle automatique</a:t>
            </a:r>
          </a:p>
          <a:p>
            <a:r>
              <a:rPr sz="900" b="0"/>
              <a:t/>
            </a:r>
          </a:p>
          <a:p>
            <a:r>
              <a:rPr sz="1200" b="0"/>
              <a:t>5.  Déconnexion  →  session Keycloak invalidée (Single Logout)</a:t>
            </a:r>
          </a:p>
        </p:txBody>
      </p:sp>
      <p:sp>
        <p:nvSpPr>
          <p:cNvPr id="6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Conclusion  |  Bonne idée pour la Henallux ?</a:t>
            </a:r>
          </a:p>
        </p:txBody>
      </p:sp>
      <p:sp>
        <p:nvSpPr>
          <p:cNvPr id="5" name="Col1Fond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Col1Barre"/>
          <p:cNvSpPr/>
          <p:nvPr/>
        </p:nvSpPr>
        <p:spPr>
          <a:xfrm>
            <a:off x="320040" y="960120"/>
            <a:ext cx="41148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Col1Contenu"/>
          <p:cNvSpPr/>
          <p:nvPr/>
        </p:nvSpPr>
        <p:spPr>
          <a:xfrm>
            <a:off x="54864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/>
              <a:t>Points positifs</a:t>
            </a:r>
          </a:p>
          <a:p>
            <a:r>
              <a:rPr sz="900" b="0"/>
              <a:t/>
            </a:r>
          </a:p>
          <a:p>
            <a:r>
              <a:rPr sz="1100" b="0"/>
              <a:t>✔  Souveraineté des données</a:t>
            </a:r>
          </a:p>
          <a:p>
            <a:r>
              <a:rPr sz="1100" b="0"/>
              <a:t>✔  Intégration LDAP existant</a:t>
            </a:r>
          </a:p>
          <a:p>
            <a:r>
              <a:rPr sz="1100" b="0"/>
              <a:t>✔  Rôles automatiques</a:t>
            </a:r>
          </a:p>
          <a:p>
            <a:r>
              <a:rPr sz="1100" b="0"/>
              <a:t>✔  Open source, sans licence</a:t>
            </a:r>
          </a:p>
          <a:p>
            <a:r>
              <a:rPr sz="1100" b="0"/>
              <a:t>✔  Un seul compte (SSO)</a:t>
            </a:r>
          </a:p>
          <a:p>
            <a:r>
              <a:rPr sz="1100" b="0"/>
              <a:t>✔  Déconnexion globale (SLO)</a:t>
            </a:r>
          </a:p>
        </p:txBody>
      </p:sp>
      <p:sp>
        <p:nvSpPr>
          <p:cNvPr id="8" name="Col2Fond"/>
          <p:cNvSpPr/>
          <p:nvPr/>
        </p:nvSpPr>
        <p:spPr>
          <a:xfrm>
            <a:off x="470916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Col2Barre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Col2Contenu"/>
          <p:cNvSpPr/>
          <p:nvPr/>
        </p:nvSpPr>
        <p:spPr>
          <a:xfrm>
            <a:off x="493776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/>
              <a:t>Limites</a:t>
            </a:r>
          </a:p>
          <a:p>
            <a:r>
              <a:rPr sz="900" b="0"/>
              <a:t/>
            </a:r>
          </a:p>
          <a:p>
            <a:r>
              <a:rPr sz="1100" b="0"/>
              <a:t>✘  Mastodon = réseau social, pas un LMS</a:t>
            </a:r>
          </a:p>
          <a:p>
            <a:r>
              <a:rPr sz="1100" b="0"/>
              <a:t>✘  Maintenance serveur à assurer</a:t>
            </a:r>
          </a:p>
          <a:p>
            <a:r>
              <a:rPr sz="1100" b="0"/>
              <a:t>✘  Adoption incertaine</a:t>
            </a:r>
          </a:p>
          <a:p>
            <a:r>
              <a:rPr sz="900" b="0"/>
              <a:t/>
            </a:r>
          </a:p>
          <a:p>
            <a:r>
              <a:rPr sz="1300" b="1"/>
              <a:t>Verdict</a:t>
            </a:r>
          </a:p>
          <a:p>
            <a:r>
              <a:rPr sz="900" b="0"/>
              <a:t/>
            </a:r>
          </a:p>
          <a:p>
            <a:r>
              <a:rPr sz="1100" b="0"/>
              <a:t>Pertinent comme complément aux outils</a:t>
            </a:r>
          </a:p>
          <a:p>
            <a:r>
              <a:rPr sz="1100" b="0"/>
              <a:t>existants (Teams/Discord), pas en</a:t>
            </a:r>
          </a:p>
          <a:p>
            <a:r>
              <a:rPr sz="1100" b="0"/>
              <a:t>remplacement. Idéal pour une communauté</a:t>
            </a:r>
          </a:p>
          <a:p>
            <a:r>
              <a:rPr sz="1100" b="0"/>
              <a:t>interne souveraine.</a:t>
            </a:r>
          </a:p>
        </p:txBody>
      </p:sp>
      <p:sp>
        <p:nvSpPr>
          <p:cNvPr id="11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